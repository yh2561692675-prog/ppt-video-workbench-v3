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tags" Target="../tags/tag4.xml"/><Relationship Id="rId31" Type="http://schemas.openxmlformats.org/officeDocument/2006/relationships/notesSlide" Target="../notesSlides/notesSlide1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9" Type="http://schemas.openxmlformats.org/officeDocument/2006/relationships/image" Target="../media/image7.png"/><Relationship Id="rId28" Type="http://schemas.openxmlformats.org/officeDocument/2006/relationships/tags" Target="../tags/tag22.xml"/><Relationship Id="rId27" Type="http://schemas.openxmlformats.org/officeDocument/2006/relationships/tags" Target="../tags/tag21.xml"/><Relationship Id="rId26" Type="http://schemas.openxmlformats.org/officeDocument/2006/relationships/tags" Target="../tags/tag20.xml"/><Relationship Id="rId25" Type="http://schemas.openxmlformats.org/officeDocument/2006/relationships/image" Target="../media/image6.png"/><Relationship Id="rId24" Type="http://schemas.openxmlformats.org/officeDocument/2006/relationships/tags" Target="../tags/tag19.xml"/><Relationship Id="rId23" Type="http://schemas.openxmlformats.org/officeDocument/2006/relationships/tags" Target="../tags/tag18.xml"/><Relationship Id="rId22" Type="http://schemas.openxmlformats.org/officeDocument/2006/relationships/tags" Target="../tags/tag17.xml"/><Relationship Id="rId21" Type="http://schemas.openxmlformats.org/officeDocument/2006/relationships/image" Target="../media/image5.png"/><Relationship Id="rId20" Type="http://schemas.openxmlformats.org/officeDocument/2006/relationships/tags" Target="../tags/tag16.xml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image" Target="../media/image4.png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image" Target="../media/image3.png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F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04-title-bar"/>
          <p:cNvSpPr>
            <a:spLocks noGrp="1"/>
          </p:cNvSpPr>
          <p:nvPr/>
        </p:nvSpPr>
        <p:spPr>
          <a:xfrm>
            <a:off x="285750" y="571500"/>
            <a:ext cx="66675" cy="752475"/>
          </a:xfrm>
          <a:prstGeom prst="rect">
            <a:avLst/>
          </a:prstGeom>
          <a:solidFill>
            <a:srgbClr val="B9560A"/>
          </a:solidFill>
          <a:ln w="0">
            <a:solidFill>
              <a:srgbClr val="B9560A"/>
            </a:solidFill>
            <a:prstDash val="solid"/>
          </a:ln>
        </p:spPr>
      </p:sp>
      <p:sp>
        <p:nvSpPr>
          <p:cNvPr id="3" name="page04-title-editable"/>
          <p:cNvSpPr>
            <a:spLocks noGrp="1"/>
          </p:cNvSpPr>
          <p:nvPr/>
        </p:nvSpPr>
        <p:spPr>
          <a:xfrm>
            <a:off x="590550" y="590550"/>
            <a:ext cx="1104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412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412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从电报到智能终端，底层主线始终是信息效率</a:t>
            </a:r>
            <a:endParaRPr sz="4125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4" name="page04-title-rule"/>
          <p:cNvSpPr>
            <a:spLocks noGrp="1"/>
          </p:cNvSpPr>
          <p:nvPr/>
        </p:nvSpPr>
        <p:spPr>
          <a:xfrm>
            <a:off x="285750" y="1571625"/>
            <a:ext cx="11144250" cy="9525"/>
          </a:xfrm>
          <a:prstGeom prst="rect">
            <a:avLst/>
          </a:prstGeom>
          <a:solidFill>
            <a:srgbClr val="6E7480"/>
          </a:solidFill>
          <a:ln w="0">
            <a:solidFill>
              <a:srgbClr val="6E7480"/>
            </a:solidFill>
            <a:prstDash val="solid"/>
          </a:ln>
        </p:spPr>
      </p:sp>
      <p:sp>
        <p:nvSpPr>
          <p:cNvPr id="5" name="page04-title-rule-left"/>
          <p:cNvSpPr>
            <a:spLocks noGrp="1"/>
          </p:cNvSpPr>
          <p:nvPr/>
        </p:nvSpPr>
        <p:spPr>
          <a:xfrm>
            <a:off x="285750" y="1562100"/>
            <a:ext cx="552450" cy="19050"/>
          </a:xfrm>
          <a:prstGeom prst="rect">
            <a:avLst/>
          </a:prstGeom>
          <a:solidFill>
            <a:srgbClr val="061A3D"/>
          </a:solidFill>
          <a:ln w="0">
            <a:solidFill>
              <a:srgbClr val="061A3D"/>
            </a:solidFill>
            <a:prstDash val="solid"/>
          </a:ln>
        </p:spPr>
      </p:sp>
      <p:sp>
        <p:nvSpPr>
          <p:cNvPr id="6" name="page04-title-rule-right"/>
          <p:cNvSpPr>
            <a:spLocks noGrp="1"/>
          </p:cNvSpPr>
          <p:nvPr/>
        </p:nvSpPr>
        <p:spPr>
          <a:xfrm>
            <a:off x="11458575" y="1562100"/>
            <a:ext cx="485775" cy="19050"/>
          </a:xfrm>
          <a:prstGeom prst="rect">
            <a:avLst/>
          </a:prstGeom>
          <a:solidFill>
            <a:srgbClr val="B9560A"/>
          </a:solidFill>
          <a:ln w="0">
            <a:solidFill>
              <a:srgbClr val="B9560A"/>
            </a:solidFill>
            <a:prstDash val="solid"/>
          </a:ln>
        </p:spPr>
      </p:sp>
      <p:sp>
        <p:nvSpPr>
          <p:cNvPr id="7" name="page04-timeline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00050" y="2667000"/>
            <a:ext cx="11334750" cy="9525"/>
          </a:xfrm>
          <a:prstGeom prst="rect">
            <a:avLst/>
          </a:prstGeom>
          <a:solidFill>
            <a:srgbClr val="A7A9A4"/>
          </a:solidFill>
          <a:ln w="0">
            <a:solidFill>
              <a:srgbClr val="A7A9A4"/>
            </a:solidFill>
            <a:prstDash val="solid"/>
          </a:ln>
        </p:spPr>
      </p:sp>
      <p:sp>
        <p:nvSpPr>
          <p:cNvPr id="8" name="page04-label-1-editable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90500" y="2143125"/>
            <a:ext cx="1600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18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8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电报</a:t>
            </a:r>
            <a:endParaRPr sz="1875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9" name="page04-node-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33450" y="2590800"/>
            <a:ext cx="133350" cy="133350"/>
          </a:xfrm>
          <a:prstGeom prst="ellipse">
            <a:avLst/>
          </a:prstGeom>
          <a:solidFill>
            <a:srgbClr val="B9560A"/>
          </a:solidFill>
          <a:ln w="28575">
            <a:solidFill>
              <a:srgbClr val="F6EFDF"/>
            </a:solidFill>
            <a:prstDash val="solid"/>
          </a:ln>
        </p:spPr>
      </p:sp>
      <p:pic>
        <p:nvPicPr>
          <p:cNvPr id="48" name="图片 4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198" r="198"/>
          <a:stretch>
            <a:fillRect/>
          </a:stretch>
        </p:blipFill>
        <p:spPr>
          <a:xfrm>
            <a:off x="190500" y="2952750"/>
            <a:ext cx="1600200" cy="2190750"/>
          </a:xfrm>
          <a:prstGeom prst="rect">
            <a:avLst/>
          </a:prstGeom>
        </p:spPr>
      </p:pic>
      <p:sp>
        <p:nvSpPr>
          <p:cNvPr id="10" name="page04-label-2-editable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876425" y="2143125"/>
            <a:ext cx="1600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18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8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电话</a:t>
            </a:r>
            <a:endParaRPr sz="1875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11" name="page04-node-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619375" y="2590800"/>
            <a:ext cx="133350" cy="133350"/>
          </a:xfrm>
          <a:prstGeom prst="ellipse">
            <a:avLst/>
          </a:prstGeom>
          <a:solidFill>
            <a:srgbClr val="B9560A"/>
          </a:solidFill>
          <a:ln w="28575">
            <a:solidFill>
              <a:srgbClr val="F6EFDF"/>
            </a:solidFill>
            <a:prstDash val="solid"/>
          </a:ln>
        </p:spPr>
      </p:sp>
      <p:pic>
        <p:nvPicPr>
          <p:cNvPr id="51" name="图片 5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198" r="198"/>
          <a:stretch>
            <a:fillRect/>
          </a:stretch>
        </p:blipFill>
        <p:spPr>
          <a:xfrm>
            <a:off x="1876425" y="2952750"/>
            <a:ext cx="1600200" cy="2190750"/>
          </a:xfrm>
          <a:prstGeom prst="rect">
            <a:avLst/>
          </a:prstGeom>
        </p:spPr>
      </p:pic>
      <p:sp>
        <p:nvSpPr>
          <p:cNvPr id="13" name="page04-label-3-editable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590925" y="2143125"/>
            <a:ext cx="1600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18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8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半导体</a:t>
            </a:r>
            <a:endParaRPr sz="1875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14" name="page04-node-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333875" y="2590800"/>
            <a:ext cx="133350" cy="133350"/>
          </a:xfrm>
          <a:prstGeom prst="ellipse">
            <a:avLst/>
          </a:prstGeom>
          <a:solidFill>
            <a:srgbClr val="B9560A"/>
          </a:solidFill>
          <a:ln w="28575">
            <a:solidFill>
              <a:srgbClr val="F6EFDF"/>
            </a:solidFill>
            <a:prstDash val="solid"/>
          </a:ln>
        </p:spPr>
      </p:sp>
      <p:pic>
        <p:nvPicPr>
          <p:cNvPr id="54" name="图片 5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l="198" r="198"/>
          <a:stretch>
            <a:fillRect/>
          </a:stretch>
        </p:blipFill>
        <p:spPr>
          <a:xfrm>
            <a:off x="3590925" y="2952750"/>
            <a:ext cx="1600200" cy="2190750"/>
          </a:xfrm>
          <a:prstGeom prst="rect">
            <a:avLst/>
          </a:prstGeom>
        </p:spPr>
      </p:pic>
      <p:sp>
        <p:nvSpPr>
          <p:cNvPr id="16" name="page04-label-4-editable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5295900" y="2143125"/>
            <a:ext cx="1600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18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8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计算机</a:t>
            </a:r>
            <a:endParaRPr sz="1875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17" name="page04-node-4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038850" y="2590800"/>
            <a:ext cx="133350" cy="133350"/>
          </a:xfrm>
          <a:prstGeom prst="ellipse">
            <a:avLst/>
          </a:prstGeom>
          <a:solidFill>
            <a:srgbClr val="B9560A"/>
          </a:solidFill>
          <a:ln w="28575">
            <a:solidFill>
              <a:srgbClr val="F6EFDF"/>
            </a:solidFill>
            <a:prstDash val="solid"/>
          </a:ln>
        </p:spPr>
      </p:sp>
      <p:pic>
        <p:nvPicPr>
          <p:cNvPr id="57" name="图片 5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l="198" r="198"/>
          <a:stretch>
            <a:fillRect/>
          </a:stretch>
        </p:blipFill>
        <p:spPr>
          <a:xfrm>
            <a:off x="5295900" y="2952750"/>
            <a:ext cx="1600200" cy="2190750"/>
          </a:xfrm>
          <a:prstGeom prst="rect">
            <a:avLst/>
          </a:prstGeom>
        </p:spPr>
      </p:pic>
      <p:sp>
        <p:nvSpPr>
          <p:cNvPr id="19" name="page04-label-5-editable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7010400" y="2143125"/>
            <a:ext cx="1600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18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8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互联网</a:t>
            </a:r>
            <a:endParaRPr sz="1875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20" name="page04-node-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7753350" y="2590800"/>
            <a:ext cx="133350" cy="133350"/>
          </a:xfrm>
          <a:prstGeom prst="ellipse">
            <a:avLst/>
          </a:prstGeom>
          <a:solidFill>
            <a:srgbClr val="B9560A"/>
          </a:solidFill>
          <a:ln w="28575">
            <a:solidFill>
              <a:srgbClr val="F6EFDF"/>
            </a:solidFill>
            <a:prstDash val="solid"/>
          </a:ln>
        </p:spPr>
      </p:sp>
      <p:pic>
        <p:nvPicPr>
          <p:cNvPr id="60" name="图片 5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rcRect l="198" r="198"/>
          <a:stretch>
            <a:fillRect/>
          </a:stretch>
        </p:blipFill>
        <p:spPr>
          <a:xfrm>
            <a:off x="7010400" y="2952750"/>
            <a:ext cx="1600200" cy="2190750"/>
          </a:xfrm>
          <a:prstGeom prst="rect">
            <a:avLst/>
          </a:prstGeom>
        </p:spPr>
      </p:pic>
      <p:sp>
        <p:nvSpPr>
          <p:cNvPr id="22" name="page04-label-6-editable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8724900" y="2143125"/>
            <a:ext cx="1600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18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8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移动通信</a:t>
            </a:r>
            <a:endParaRPr sz="1875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23" name="page04-node-6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9467850" y="2590800"/>
            <a:ext cx="133350" cy="133350"/>
          </a:xfrm>
          <a:prstGeom prst="ellipse">
            <a:avLst/>
          </a:prstGeom>
          <a:solidFill>
            <a:srgbClr val="B9560A"/>
          </a:solidFill>
          <a:ln w="28575">
            <a:solidFill>
              <a:srgbClr val="F6EFDF"/>
            </a:solidFill>
            <a:prstDash val="solid"/>
          </a:ln>
        </p:spPr>
      </p:sp>
      <p:pic>
        <p:nvPicPr>
          <p:cNvPr id="63" name="图片 62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rcRect l="198" r="198"/>
          <a:stretch>
            <a:fillRect/>
          </a:stretch>
        </p:blipFill>
        <p:spPr>
          <a:xfrm>
            <a:off x="8724900" y="2952750"/>
            <a:ext cx="1600200" cy="2190750"/>
          </a:xfrm>
          <a:prstGeom prst="rect">
            <a:avLst/>
          </a:prstGeom>
        </p:spPr>
      </p:pic>
      <p:sp>
        <p:nvSpPr>
          <p:cNvPr id="25" name="page04-label-7-editable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10439400" y="2143125"/>
            <a:ext cx="1600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18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8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智能系统</a:t>
            </a:r>
            <a:endParaRPr sz="1875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26" name="page04-node-7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11182350" y="2590800"/>
            <a:ext cx="133350" cy="133350"/>
          </a:xfrm>
          <a:prstGeom prst="ellipse">
            <a:avLst/>
          </a:prstGeom>
          <a:solidFill>
            <a:srgbClr val="B9560A"/>
          </a:solidFill>
          <a:ln w="28575">
            <a:solidFill>
              <a:srgbClr val="F6EFDF"/>
            </a:solidFill>
            <a:prstDash val="solid"/>
          </a:ln>
        </p:spPr>
      </p:sp>
      <p:pic>
        <p:nvPicPr>
          <p:cNvPr id="66" name="图片 65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/>
          <a:srcRect l="198" r="198"/>
          <a:stretch>
            <a:fillRect/>
          </a:stretch>
        </p:blipFill>
        <p:spPr>
          <a:xfrm>
            <a:off x="10439400" y="2952750"/>
            <a:ext cx="1600200" cy="2190750"/>
          </a:xfrm>
          <a:prstGeom prst="rect">
            <a:avLst/>
          </a:prstGeom>
        </p:spPr>
      </p:pic>
      <p:sp>
        <p:nvSpPr>
          <p:cNvPr id="30" name="page04-footer-editable"/>
          <p:cNvSpPr>
            <a:spLocks noGrp="1"/>
          </p:cNvSpPr>
          <p:nvPr/>
        </p:nvSpPr>
        <p:spPr>
          <a:xfrm>
            <a:off x="3514725" y="5610225"/>
            <a:ext cx="51625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850" b="1">
                <a:solidFill>
                  <a:srgbClr val="B9560A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850" b="1">
                <a:solidFill>
                  <a:srgbClr val="B9560A"/>
                </a:solidFill>
                <a:latin typeface="Source Han Serif SC"/>
                <a:ea typeface="Source Han Serif SC"/>
                <a:cs typeface="Source Han Serif SC"/>
              </a:rPr>
              <a:t>更快连接｜更低成本｜更强计算</a:t>
            </a:r>
            <a:endParaRPr sz="2850" b="1">
              <a:solidFill>
                <a:srgbClr val="B9560A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31" name="page04-footer-rule-left"/>
          <p:cNvSpPr>
            <a:spLocks noGrp="1"/>
          </p:cNvSpPr>
          <p:nvPr/>
        </p:nvSpPr>
        <p:spPr>
          <a:xfrm>
            <a:off x="285750" y="5905500"/>
            <a:ext cx="2095500" cy="9525"/>
          </a:xfrm>
          <a:prstGeom prst="rect">
            <a:avLst/>
          </a:prstGeom>
          <a:solidFill>
            <a:srgbClr val="061A3D"/>
          </a:solidFill>
          <a:ln w="0">
            <a:solidFill>
              <a:srgbClr val="061A3D"/>
            </a:solidFill>
            <a:prstDash val="solid"/>
          </a:ln>
        </p:spPr>
      </p:sp>
      <p:sp>
        <p:nvSpPr>
          <p:cNvPr id="32" name="page04-footer-rule-right"/>
          <p:cNvSpPr>
            <a:spLocks noGrp="1"/>
          </p:cNvSpPr>
          <p:nvPr/>
        </p:nvSpPr>
        <p:spPr>
          <a:xfrm>
            <a:off x="9810750" y="5905500"/>
            <a:ext cx="2095500" cy="9525"/>
          </a:xfrm>
          <a:prstGeom prst="rect">
            <a:avLst/>
          </a:prstGeom>
          <a:solidFill>
            <a:srgbClr val="061A3D"/>
          </a:solidFill>
          <a:ln w="0">
            <a:solidFill>
              <a:srgbClr val="061A3D"/>
            </a:solidFill>
            <a:prstDash val="solid"/>
          </a:ln>
        </p:spPr>
      </p:sp>
      <p:sp>
        <p:nvSpPr>
          <p:cNvPr id="28" name="page04-footer-diamond-left"/>
          <p:cNvSpPr>
            <a:spLocks noGrp="1"/>
          </p:cNvSpPr>
          <p:nvPr/>
        </p:nvSpPr>
        <p:spPr>
          <a:xfrm>
            <a:off x="2351405" y="5838825"/>
            <a:ext cx="161925" cy="161925"/>
          </a:xfrm>
          <a:prstGeom prst="diamond">
            <a:avLst/>
          </a:prstGeom>
          <a:solidFill>
            <a:srgbClr val="B9560A"/>
          </a:solidFill>
          <a:ln w="0">
            <a:solidFill>
              <a:srgbClr val="B9560A"/>
            </a:solidFill>
            <a:prstDash val="solid"/>
          </a:ln>
        </p:spPr>
      </p:sp>
      <p:sp>
        <p:nvSpPr>
          <p:cNvPr id="29" name="page04-footer-diamond-right"/>
          <p:cNvSpPr>
            <a:spLocks noGrp="1"/>
          </p:cNvSpPr>
          <p:nvPr/>
        </p:nvSpPr>
        <p:spPr>
          <a:xfrm>
            <a:off x="9810750" y="5838825"/>
            <a:ext cx="161925" cy="161925"/>
          </a:xfrm>
          <a:prstGeom prst="diamond">
            <a:avLst/>
          </a:prstGeom>
          <a:solidFill>
            <a:srgbClr val="B9560A"/>
          </a:solidFill>
          <a:ln w="0">
            <a:solidFill>
              <a:srgbClr val="B9560A"/>
            </a:solidFill>
            <a:prstDash val="solid"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2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3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4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5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6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7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8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9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10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11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12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13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14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15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16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17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18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19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20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21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ags/tag22.xml><?xml version="1.0" encoding="utf-8"?>
<p:tagLst xmlns:p="http://schemas.openxmlformats.org/presentationml/2006/main">
  <p:tag name="KSO_WM_DIAGRAM_VIRTUALLY_FRAME" val="{&quot;height&quot;:236.25,&quot;left&quot;:15,&quot;top&quot;:168.75,&quot;width&quot;:933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WPS 演示</Application>
  <PresentationFormat>Converted Presentation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Source Han Serif SC</vt:lpstr>
      <vt:lpstr>Source Han Serif SC Heavy</vt:lpstr>
      <vt:lpstr>Noto Sans CJK SC</vt:lpstr>
      <vt:lpstr>Noto Serif SC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29</cp:revision>
  <dcterms:created xsi:type="dcterms:W3CDTF">2026-08-05T13:03:00Z</dcterms:created>
  <dcterms:modified xsi:type="dcterms:W3CDTF">2026-08-09T12:12:00Z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1CC454ED494E43189ACE5A82EF595F8B_13</vt:lpwstr>
  </property>
</Properties>
</file>