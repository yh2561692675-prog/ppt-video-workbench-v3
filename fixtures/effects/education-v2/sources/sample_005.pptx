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用户提供的方案A第2页视觉稿（中心图标、目标图标作为视觉资产保留）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285750" y="1238250"/>
            <a:ext cx="2857500" cy="3190875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81000" y="1333500"/>
            <a:ext cx="2714625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6346F"/>
                </a:solidFill>
              </a:defRPr>
            </a:pPr>
            <a:r>
              <a:rPr sz="3000" b="1">
                <a:solidFill>
                  <a:srgbClr val="06346F"/>
                </a:solidFill>
              </a:rPr>
              <a:t>高一规划，</a:t>
            </a:r>
            <a:endParaRPr sz="3000" b="1">
              <a:solidFill>
                <a:srgbClr val="06346F"/>
              </a:solidFill>
            </a:endParaRPr>
          </a:p>
          <a:p>
            <a:pPr algn="l">
              <a:defRPr sz="3000" b="1">
                <a:solidFill>
                  <a:srgbClr val="06346F"/>
                </a:solidFill>
              </a:defRPr>
            </a:pPr>
            <a:r>
              <a:rPr sz="3000" b="1">
                <a:solidFill>
                  <a:srgbClr val="06346F"/>
                </a:solidFill>
              </a:rPr>
              <a:t>不是抢跑，</a:t>
            </a:r>
            <a:endParaRPr sz="3000" b="1">
              <a:solidFill>
                <a:srgbClr val="06346F"/>
              </a:solidFill>
            </a:endParaRPr>
          </a:p>
          <a:p>
            <a:pPr algn="l">
              <a:defRPr sz="3000" b="1">
                <a:solidFill>
                  <a:srgbClr val="06346F"/>
                </a:solidFill>
              </a:defRPr>
            </a:pPr>
            <a:r>
              <a:rPr sz="3000" b="1">
                <a:solidFill>
                  <a:srgbClr val="06346F"/>
                </a:solidFill>
              </a:rPr>
              <a:t>而是避免错过</a:t>
            </a:r>
            <a:endParaRPr sz="3000" b="1">
              <a:solidFill>
                <a:srgbClr val="0634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81000" y="3476625"/>
            <a:ext cx="238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7233A"/>
                </a:solidFill>
              </a:defRPr>
            </a:pPr>
            <a:r>
              <a:rPr sz="1650" b="0">
                <a:solidFill>
                  <a:srgbClr val="17233A"/>
                </a:solidFill>
              </a:rPr>
              <a:t>看清方向，</a:t>
            </a:r>
            <a:endParaRPr sz="1650" b="0">
              <a:solidFill>
                <a:srgbClr val="17233A"/>
              </a:solidFill>
            </a:endParaRPr>
          </a:p>
          <a:p>
            <a:pPr algn="l">
              <a:defRPr sz="1650" b="0">
                <a:solidFill>
                  <a:srgbClr val="17233A"/>
                </a:solidFill>
              </a:defRPr>
            </a:pPr>
            <a:r>
              <a:rPr sz="1650" b="0">
                <a:solidFill>
                  <a:srgbClr val="17233A"/>
                </a:solidFill>
              </a:rPr>
              <a:t>做好选择，</a:t>
            </a:r>
            <a:endParaRPr sz="1650" b="0">
              <a:solidFill>
                <a:srgbClr val="17233A"/>
              </a:solidFill>
            </a:endParaRPr>
          </a:p>
          <a:p>
            <a:pPr algn="l">
              <a:defRPr sz="1650" b="0">
                <a:solidFill>
                  <a:srgbClr val="17233A"/>
                </a:solidFill>
              </a:defRPr>
            </a:pPr>
            <a:r>
              <a:rPr sz="1650" b="0">
                <a:solidFill>
                  <a:srgbClr val="17233A"/>
                </a:solidFill>
              </a:rPr>
              <a:t>让努力更有价值。</a:t>
            </a:r>
            <a:endParaRPr sz="1650" b="0">
              <a:solidFill>
                <a:srgbClr val="17233A"/>
              </a:solidFill>
            </a:endParaR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3419475" y="2466975"/>
            <a:ext cx="1143000" cy="1476375"/>
          </a:xfrm>
          <a:prstGeom prst="ellipse">
            <a:avLst/>
          </a:prstGeom>
          <a:solidFill>
            <a:srgbClr val="003B78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524250" y="2733675"/>
            <a:ext cx="933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高中</a:t>
            </a:r>
            <a:endParaRPr sz="2175" b="1">
              <a:solidFill>
                <a:srgbClr val="FFFFFF"/>
              </a:solidFill>
            </a:endParaRPr>
          </a:p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三年</a:t>
            </a:r>
            <a:endParaRPr sz="217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0" y="904875"/>
            <a:ext cx="2381250" cy="876300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72200" y="904875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6346F"/>
                </a:solidFill>
              </a:defRPr>
            </a:pPr>
            <a:r>
              <a:rPr sz="1875" b="1">
                <a:solidFill>
                  <a:srgbClr val="06346F"/>
                </a:solidFill>
              </a:rPr>
              <a:t>选科</a:t>
            </a:r>
            <a:endParaRPr sz="1875" b="1">
              <a:solidFill>
                <a:srgbClr val="06346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72200" y="12668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合理选择科目组合，</a:t>
            </a:r>
            <a:endParaRPr sz="1275" b="0">
              <a:solidFill>
                <a:srgbClr val="17233A"/>
              </a:solidFill>
            </a:endParaRPr>
          </a:p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避免专业门槛</a:t>
            </a:r>
            <a:endParaRPr sz="1275" b="0">
              <a:solidFill>
                <a:srgbClr val="17233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2352675"/>
            <a:ext cx="2381250" cy="876300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67450" y="2352675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6346F"/>
                </a:solidFill>
              </a:defRPr>
            </a:pPr>
            <a:r>
              <a:rPr sz="1875" b="1">
                <a:solidFill>
                  <a:srgbClr val="06346F"/>
                </a:solidFill>
              </a:rPr>
              <a:t>学业</a:t>
            </a:r>
            <a:endParaRPr sz="1875" b="1">
              <a:solidFill>
                <a:srgbClr val="06346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67450" y="2714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夯实学科基础，</a:t>
            </a:r>
            <a:endParaRPr sz="1275" b="0">
              <a:solidFill>
                <a:srgbClr val="17233A"/>
              </a:solidFill>
            </a:endParaRPr>
          </a:p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提升综合学习水平</a:t>
            </a:r>
            <a:endParaRPr sz="1275" b="0">
              <a:solidFill>
                <a:srgbClr val="17233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3781425"/>
            <a:ext cx="2381250" cy="876300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267450" y="3781425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6346F"/>
                </a:solidFill>
              </a:defRPr>
            </a:pPr>
            <a:r>
              <a:rPr sz="1875" b="1">
                <a:solidFill>
                  <a:srgbClr val="06346F"/>
                </a:solidFill>
              </a:rPr>
              <a:t>升学路径</a:t>
            </a:r>
            <a:endParaRPr sz="1875" b="1">
              <a:solidFill>
                <a:srgbClr val="06346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67450" y="414337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了解多元升学路径，</a:t>
            </a:r>
            <a:endParaRPr sz="1275" b="0">
              <a:solidFill>
                <a:srgbClr val="17233A"/>
              </a:solidFill>
            </a:endParaRPr>
          </a:p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找到适合自己的道路</a:t>
            </a:r>
            <a:endParaRPr sz="1275" b="0">
              <a:solidFill>
                <a:srgbClr val="17233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43625" y="5191125"/>
            <a:ext cx="2381250" cy="876300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19825" y="5191125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6346F"/>
                </a:solidFill>
              </a:defRPr>
            </a:pPr>
            <a:r>
              <a:rPr sz="1875" b="1">
                <a:solidFill>
                  <a:srgbClr val="06346F"/>
                </a:solidFill>
              </a:rPr>
              <a:t>志愿填报</a:t>
            </a:r>
            <a:endParaRPr sz="1875" b="1">
              <a:solidFill>
                <a:srgbClr val="06346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19825" y="555307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掌握规则与方法，</a:t>
            </a:r>
            <a:endParaRPr sz="1275" b="0">
              <a:solidFill>
                <a:srgbClr val="17233A"/>
              </a:solidFill>
            </a:endParaRPr>
          </a:p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做出更优志愿决策</a:t>
            </a:r>
            <a:endParaRPr sz="1275" b="0">
              <a:solidFill>
                <a:srgbClr val="17233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525000" y="495300"/>
            <a:ext cx="2190750" cy="400050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525000" y="4953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346F"/>
                </a:solidFill>
              </a:defRPr>
            </a:pPr>
            <a:r>
              <a:rPr sz="2100" b="1">
                <a:solidFill>
                  <a:srgbClr val="06346F"/>
                </a:solidFill>
              </a:rPr>
              <a:t>我们的目标</a:t>
            </a:r>
            <a:endParaRPr sz="2100" b="1">
              <a:solidFill>
                <a:srgbClr val="06346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144125" y="1638300"/>
            <a:ext cx="1524000" cy="819150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144125" y="1638300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6346F"/>
                </a:solidFill>
              </a:defRPr>
            </a:pPr>
            <a:r>
              <a:rPr sz="1800" b="1">
                <a:solidFill>
                  <a:srgbClr val="06346F"/>
                </a:solidFill>
              </a:rPr>
              <a:t>进入理想的</a:t>
            </a:r>
            <a:endParaRPr sz="1800" b="1">
              <a:solidFill>
                <a:srgbClr val="06346F"/>
              </a:solidFill>
            </a:endParaRPr>
          </a:p>
          <a:p>
            <a:pPr algn="l">
              <a:defRPr sz="1800" b="1">
                <a:solidFill>
                  <a:srgbClr val="06346F"/>
                </a:solidFill>
              </a:defRPr>
            </a:pPr>
            <a:r>
              <a:rPr sz="1800" b="1">
                <a:solidFill>
                  <a:srgbClr val="06346F"/>
                </a:solidFill>
              </a:rPr>
              <a:t>大学</a:t>
            </a:r>
            <a:endParaRPr sz="1800" b="1">
              <a:solidFill>
                <a:srgbClr val="06346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144125" y="3219450"/>
            <a:ext cx="1524000" cy="819150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144125" y="3219450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6346F"/>
                </a:solidFill>
              </a:defRPr>
            </a:pPr>
            <a:r>
              <a:rPr sz="1800" b="1">
                <a:solidFill>
                  <a:srgbClr val="06346F"/>
                </a:solidFill>
              </a:rPr>
              <a:t>读到适合的</a:t>
            </a:r>
            <a:endParaRPr sz="1800" b="1">
              <a:solidFill>
                <a:srgbClr val="06346F"/>
              </a:solidFill>
            </a:endParaRPr>
          </a:p>
          <a:p>
            <a:pPr algn="l">
              <a:defRPr sz="1800" b="1">
                <a:solidFill>
                  <a:srgbClr val="06346F"/>
                </a:solidFill>
              </a:defRPr>
            </a:pPr>
            <a:r>
              <a:rPr sz="1800" b="1">
                <a:solidFill>
                  <a:srgbClr val="06346F"/>
                </a:solidFill>
              </a:rPr>
              <a:t>专业</a:t>
            </a:r>
            <a:endParaRPr sz="1800" b="1">
              <a:solidFill>
                <a:srgbClr val="06346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144125" y="4810125"/>
            <a:ext cx="1524000" cy="819150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144125" y="48101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6346F"/>
                </a:solidFill>
              </a:defRPr>
            </a:pPr>
            <a:r>
              <a:rPr sz="1800" b="1">
                <a:solidFill>
                  <a:srgbClr val="06346F"/>
                </a:solidFill>
              </a:rPr>
              <a:t>拥有更多的</a:t>
            </a:r>
            <a:endParaRPr sz="1800" b="1">
              <a:solidFill>
                <a:srgbClr val="06346F"/>
              </a:solidFill>
            </a:endParaRPr>
          </a:p>
          <a:p>
            <a:pPr algn="l">
              <a:defRPr sz="1800" b="1">
                <a:solidFill>
                  <a:srgbClr val="06346F"/>
                </a:solidFill>
              </a:defRPr>
            </a:pPr>
            <a:r>
              <a:rPr sz="1800" b="1">
                <a:solidFill>
                  <a:srgbClr val="06346F"/>
                </a:solidFill>
              </a:rPr>
              <a:t>未来选择</a:t>
            </a:r>
            <a:endParaRPr sz="1800" b="1">
              <a:solidFill>
                <a:srgbClr val="06346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0" y="6315075"/>
            <a:ext cx="12192000" cy="542925"/>
          </a:xfrm>
          <a:prstGeom prst="rect">
            <a:avLst/>
          </a:prstGeom>
          <a:solidFill>
            <a:srgbClr val="003B78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57200" y="64770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新高一规划  |  江苏高中三年规划指南</a:t>
            </a:r>
            <a:endParaRPr sz="12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WPS 演示</Application>
  <PresentationFormat>Converted Presentation</PresentationFormat>
  <Paragraphs>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2026-08-09T12:13:12Z</dcterms:created>
  <dcterms:modified xsi:type="dcterms:W3CDTF">2026-08-09T12:13:12Z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1ADBBF92A8414143A6D494710F41C6A9_12</vt:lpwstr>
  </property>
  <property fmtid="{D5CDD505-2E9C-101B-9397-08002B2CF9AE}" pid="3" name="KSOProductBuildVer">
    <vt:lpwstr>2052-12.1.0.28022</vt:lpwstr>
  </property>
</Properties>
</file>