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用户提供的方案A第4页视觉稿（天平与文件图标作为视觉资产保留）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333375" y="1000125"/>
            <a:ext cx="6667500" cy="1285875"/>
          </a:xfrm>
          <a:prstGeom prst="rect">
            <a:avLst/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1066800"/>
            <a:ext cx="65722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6346F"/>
                </a:solidFill>
              </a:defRPr>
            </a:pPr>
            <a:r>
              <a:rPr sz="2925" b="1">
                <a:solidFill>
                  <a:srgbClr val="06346F"/>
                </a:solidFill>
              </a:rPr>
              <a:t>先看懂规则：</a:t>
            </a:r>
            <a:endParaRPr sz="2925" b="1">
              <a:solidFill>
                <a:srgbClr val="06346F"/>
              </a:solidFill>
            </a:endParaRPr>
          </a:p>
          <a:p>
            <a:pPr algn="l">
              <a:defRPr sz="2925" b="1">
                <a:solidFill>
                  <a:srgbClr val="06346F"/>
                </a:solidFill>
              </a:defRPr>
            </a:pPr>
            <a:r>
              <a:rPr sz="2925" b="1">
                <a:solidFill>
                  <a:srgbClr val="06346F"/>
                </a:solidFill>
              </a:rPr>
              <a:t>江苏“3+1+2”决定了什么</a:t>
            </a:r>
            <a:endParaRPr sz="2925" b="1">
              <a:solidFill>
                <a:srgbClr val="06346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381000" y="2495550"/>
            <a:ext cx="1762125" cy="2381250"/>
          </a:xfrm>
          <a:prstGeom prst="roundRect">
            <a:avLst>
              <a:gd name="adj" fmla="val 5405"/>
            </a:avLst>
          </a:prstGeom>
          <a:solidFill>
            <a:srgbClr val="0758A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81000" y="2667000"/>
            <a:ext cx="1762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575" b="1">
                <a:solidFill>
                  <a:srgbClr val="FFFFFF"/>
                </a:solidFill>
              </a:defRPr>
            </a:pPr>
            <a:r>
              <a:rPr sz="4575" b="1">
                <a:solidFill>
                  <a:srgbClr val="FFFFFF"/>
                </a:solidFill>
              </a:rPr>
              <a:t>3</a:t>
            </a:r>
            <a:endParaRPr sz="4575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76250" y="3571875"/>
            <a:ext cx="1571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必考科目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57200" y="4019550"/>
            <a:ext cx="1609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语文  数学  外语</a:t>
            </a:r>
            <a:endParaRPr sz="1500" b="0">
              <a:solidFill>
                <a:srgbClr val="FFFFF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571750" y="2495550"/>
            <a:ext cx="1762125" cy="2381250"/>
          </a:xfrm>
          <a:prstGeom prst="roundRect">
            <a:avLst>
              <a:gd name="adj" fmla="val 5405"/>
            </a:avLst>
          </a:prstGeom>
          <a:solidFill>
            <a:srgbClr val="2E9144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571750" y="2667000"/>
            <a:ext cx="1762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575" b="1">
                <a:solidFill>
                  <a:srgbClr val="FFFFFF"/>
                </a:solidFill>
              </a:defRPr>
            </a:pPr>
            <a:r>
              <a:rPr sz="4575" b="1">
                <a:solidFill>
                  <a:srgbClr val="FFFFFF"/>
                </a:solidFill>
              </a:rPr>
              <a:t>1</a:t>
            </a:r>
            <a:endParaRPr sz="4575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67000" y="3571875"/>
            <a:ext cx="1571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首选科目</a:t>
            </a:r>
            <a:endParaRPr sz="1725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647950" y="4019550"/>
            <a:ext cx="1609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物理  或  历史</a:t>
            </a:r>
            <a:endParaRPr sz="1500" b="0">
              <a:solidFill>
                <a:srgbClr val="FFFFF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810125" y="2495550"/>
            <a:ext cx="1666875" cy="2381250"/>
          </a:xfrm>
          <a:prstGeom prst="roundRect">
            <a:avLst>
              <a:gd name="adj" fmla="val 5714"/>
            </a:avLst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810125" y="2667000"/>
            <a:ext cx="16668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575" b="1">
                <a:solidFill>
                  <a:srgbClr val="16843C"/>
                </a:solidFill>
              </a:defRPr>
            </a:pPr>
            <a:r>
              <a:rPr sz="4575" b="1">
                <a:solidFill>
                  <a:srgbClr val="16843C"/>
                </a:solidFill>
              </a:rPr>
              <a:t>2</a:t>
            </a:r>
            <a:endParaRPr sz="4575" b="1">
              <a:solidFill>
                <a:srgbClr val="16843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905375" y="3571875"/>
            <a:ext cx="1476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6843C"/>
                </a:solidFill>
              </a:defRPr>
            </a:pPr>
            <a:r>
              <a:rPr sz="1725" b="1">
                <a:solidFill>
                  <a:srgbClr val="16843C"/>
                </a:solidFill>
              </a:rPr>
              <a:t>再选科目</a:t>
            </a:r>
            <a:endParaRPr sz="1725" b="1">
              <a:solidFill>
                <a:srgbClr val="16843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886325" y="4019550"/>
            <a:ext cx="15144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6843C"/>
                </a:solidFill>
              </a:defRPr>
            </a:pPr>
            <a:r>
              <a:rPr sz="1500" b="0">
                <a:solidFill>
                  <a:srgbClr val="16843C"/>
                </a:solidFill>
              </a:rPr>
              <a:t>从化学 / 生物 /</a:t>
            </a:r>
            <a:endParaRPr sz="1500" b="0">
              <a:solidFill>
                <a:srgbClr val="16843C"/>
              </a:solidFill>
            </a:endParaRPr>
          </a:p>
          <a:p>
            <a:pPr algn="ctr">
              <a:defRPr sz="1500" b="0">
                <a:solidFill>
                  <a:srgbClr val="16843C"/>
                </a:solidFill>
              </a:defRPr>
            </a:pPr>
            <a:r>
              <a:rPr sz="1500" b="0">
                <a:solidFill>
                  <a:srgbClr val="16843C"/>
                </a:solidFill>
              </a:rPr>
              <a:t>政治 / 地理中</a:t>
            </a:r>
            <a:endParaRPr sz="1500" b="0">
              <a:solidFill>
                <a:srgbClr val="16843C"/>
              </a:solidFill>
            </a:endParaRPr>
          </a:p>
          <a:p>
            <a:pPr algn="ctr">
              <a:defRPr sz="1500" b="0">
                <a:solidFill>
                  <a:srgbClr val="16843C"/>
                </a:solidFill>
              </a:defRPr>
            </a:pPr>
            <a:r>
              <a:rPr sz="1500" b="0">
                <a:solidFill>
                  <a:srgbClr val="16843C"/>
                </a:solidFill>
              </a:rPr>
              <a:t>选择2门</a:t>
            </a:r>
            <a:endParaRPr sz="1500" b="0">
              <a:solidFill>
                <a:srgbClr val="16843C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620000" y="619125"/>
            <a:ext cx="4048125" cy="1143000"/>
          </a:xfrm>
          <a:prstGeom prst="roundRect">
            <a:avLst>
              <a:gd name="adj" fmla="val 8333"/>
            </a:avLst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10500" y="762000"/>
            <a:ext cx="11906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0758A8"/>
                </a:solidFill>
              </a:defRPr>
            </a:pPr>
            <a:r>
              <a:rPr sz="3750" b="1">
                <a:solidFill>
                  <a:srgbClr val="0758A8"/>
                </a:solidFill>
              </a:rPr>
              <a:t>750</a:t>
            </a:r>
            <a:endParaRPr sz="3750" b="1">
              <a:solidFill>
                <a:srgbClr val="0758A8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239250" y="76200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6346F"/>
                </a:solidFill>
              </a:defRPr>
            </a:pPr>
            <a:r>
              <a:rPr sz="1800" b="1">
                <a:solidFill>
                  <a:srgbClr val="06346F"/>
                </a:solidFill>
              </a:rPr>
              <a:t>满分750分</a:t>
            </a:r>
            <a:endParaRPr sz="1800" b="1">
              <a:solidFill>
                <a:srgbClr val="06346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39250" y="11620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统一高考科目使用原始分，</a:t>
            </a:r>
            <a:endParaRPr sz="1275" b="0">
              <a:solidFill>
                <a:srgbClr val="17233A"/>
              </a:solidFill>
            </a:endParaRPr>
          </a:p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选择性考试科目等级赋分</a:t>
            </a:r>
            <a:endParaRPr sz="1275" b="0">
              <a:solidFill>
                <a:srgbClr val="17233A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239250" y="2266950"/>
            <a:ext cx="2333625" cy="1143000"/>
          </a:xfrm>
          <a:prstGeom prst="roundRect">
            <a:avLst>
              <a:gd name="adj" fmla="val 8333"/>
            </a:avLst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239250" y="2381250"/>
            <a:ext cx="2238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6346F"/>
                </a:solidFill>
              </a:defRPr>
            </a:pPr>
            <a:r>
              <a:rPr sz="1800" b="1">
                <a:solidFill>
                  <a:srgbClr val="06346F"/>
                </a:solidFill>
              </a:rPr>
              <a:t>原始分 / 转换分</a:t>
            </a:r>
            <a:endParaRPr sz="1800" b="1">
              <a:solidFill>
                <a:srgbClr val="06346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239250" y="2743200"/>
            <a:ext cx="2238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原始分：语文、数学、外语、</a:t>
            </a:r>
            <a:endParaRPr sz="1275" b="0">
              <a:solidFill>
                <a:srgbClr val="17233A"/>
              </a:solidFill>
            </a:endParaRPr>
          </a:p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物理或历史；转换分：再选科目</a:t>
            </a:r>
            <a:endParaRPr sz="1275" b="0">
              <a:solidFill>
                <a:srgbClr val="17233A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239250" y="4000500"/>
            <a:ext cx="2333625" cy="1143000"/>
          </a:xfrm>
          <a:prstGeom prst="roundRect">
            <a:avLst>
              <a:gd name="adj" fmla="val 8333"/>
            </a:avLst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239250" y="4114800"/>
            <a:ext cx="2238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6346F"/>
                </a:solidFill>
              </a:defRPr>
            </a:pPr>
            <a:r>
              <a:rPr sz="1800" b="1">
                <a:solidFill>
                  <a:srgbClr val="06346F"/>
                </a:solidFill>
              </a:rPr>
              <a:t>规则影响路径</a:t>
            </a:r>
            <a:endParaRPr sz="1800" b="1">
              <a:solidFill>
                <a:srgbClr val="06346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239250" y="4476750"/>
            <a:ext cx="2238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科目组合 → 专业门槛 →</a:t>
            </a:r>
            <a:endParaRPr sz="1275" b="0">
              <a:solidFill>
                <a:srgbClr val="17233A"/>
              </a:solidFill>
            </a:endParaRPr>
          </a:p>
          <a:p>
            <a:pPr algn="l">
              <a:defRPr sz="1275" b="0">
                <a:solidFill>
                  <a:srgbClr val="17233A"/>
                </a:solidFill>
              </a:defRPr>
            </a:pPr>
            <a:r>
              <a:rPr sz="1275" b="0">
                <a:solidFill>
                  <a:srgbClr val="17233A"/>
                </a:solidFill>
              </a:rPr>
              <a:t>院校专业组 → 录取结果</a:t>
            </a:r>
            <a:endParaRPr sz="1275" b="0">
              <a:solidFill>
                <a:srgbClr val="17233A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09625" y="5334000"/>
            <a:ext cx="1762125" cy="666750"/>
          </a:xfrm>
          <a:prstGeom prst="roundRect">
            <a:avLst>
              <a:gd name="adj" fmla="val 14286"/>
            </a:avLst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809625" y="5334000"/>
            <a:ext cx="1762125" cy="666750"/>
          </a:xfrm>
          <a:prstGeom prst="roundRect">
            <a:avLst>
              <a:gd name="adj" fmla="val 14286"/>
            </a:avLst>
          </a:prstGeom>
          <a:noFill/>
          <a:ln w="9525">
            <a:solidFill>
              <a:srgbClr val="06346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57250" y="5410200"/>
            <a:ext cx="1666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6346F"/>
                </a:solidFill>
              </a:defRPr>
            </a:pPr>
            <a:r>
              <a:rPr sz="1425" b="1">
                <a:solidFill>
                  <a:srgbClr val="06346F"/>
                </a:solidFill>
              </a:rPr>
              <a:t>科目组合</a:t>
            </a:r>
            <a:endParaRPr sz="1425" b="1">
              <a:solidFill>
                <a:srgbClr val="06346F"/>
              </a:solidFill>
            </a:endParaRPr>
          </a:p>
          <a:p>
            <a:pPr algn="ctr">
              <a:defRPr sz="1425" b="1">
                <a:solidFill>
                  <a:srgbClr val="06346F"/>
                </a:solidFill>
              </a:defRPr>
            </a:pPr>
            <a:r>
              <a:rPr sz="1425" b="1">
                <a:solidFill>
                  <a:srgbClr val="06346F"/>
                </a:solidFill>
              </a:rPr>
              <a:t>（你能选择）</a:t>
            </a:r>
            <a:endParaRPr sz="1425" b="1">
              <a:solidFill>
                <a:srgbClr val="06346F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3333750" y="5334000"/>
            <a:ext cx="1762125" cy="666750"/>
          </a:xfrm>
          <a:prstGeom prst="roundRect">
            <a:avLst>
              <a:gd name="adj" fmla="val 14286"/>
            </a:avLst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3333750" y="5334000"/>
            <a:ext cx="1762125" cy="666750"/>
          </a:xfrm>
          <a:prstGeom prst="roundRect">
            <a:avLst>
              <a:gd name="adj" fmla="val 14286"/>
            </a:avLst>
          </a:prstGeom>
          <a:noFill/>
          <a:ln w="9525">
            <a:solidFill>
              <a:srgbClr val="06346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381375" y="5410200"/>
            <a:ext cx="1666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6346F"/>
                </a:solidFill>
              </a:defRPr>
            </a:pPr>
            <a:r>
              <a:rPr sz="1425" b="1">
                <a:solidFill>
                  <a:srgbClr val="06346F"/>
                </a:solidFill>
              </a:rPr>
              <a:t>专业门槛</a:t>
            </a:r>
            <a:endParaRPr sz="1425" b="1">
              <a:solidFill>
                <a:srgbClr val="06346F"/>
              </a:solidFill>
            </a:endParaRPr>
          </a:p>
          <a:p>
            <a:pPr algn="ctr">
              <a:defRPr sz="1425" b="1">
                <a:solidFill>
                  <a:srgbClr val="06346F"/>
                </a:solidFill>
              </a:defRPr>
            </a:pPr>
            <a:r>
              <a:rPr sz="1425" b="1">
                <a:solidFill>
                  <a:srgbClr val="06346F"/>
                </a:solidFill>
              </a:rPr>
              <a:t>（选择要求）</a:t>
            </a:r>
            <a:endParaRPr sz="1425" b="1">
              <a:solidFill>
                <a:srgbClr val="06346F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5857875" y="5334000"/>
            <a:ext cx="1762125" cy="666750"/>
          </a:xfrm>
          <a:prstGeom prst="roundRect">
            <a:avLst>
              <a:gd name="adj" fmla="val 14286"/>
            </a:avLst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5857875" y="5334000"/>
            <a:ext cx="1762125" cy="666750"/>
          </a:xfrm>
          <a:prstGeom prst="roundRect">
            <a:avLst>
              <a:gd name="adj" fmla="val 14286"/>
            </a:avLst>
          </a:prstGeom>
          <a:noFill/>
          <a:ln w="9525">
            <a:solidFill>
              <a:srgbClr val="06346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905500" y="5410200"/>
            <a:ext cx="1666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6346F"/>
                </a:solidFill>
              </a:defRPr>
            </a:pPr>
            <a:r>
              <a:rPr sz="1425" b="1">
                <a:solidFill>
                  <a:srgbClr val="06346F"/>
                </a:solidFill>
              </a:rPr>
              <a:t>院校专业组</a:t>
            </a:r>
            <a:endParaRPr sz="1425" b="1">
              <a:solidFill>
                <a:srgbClr val="06346F"/>
              </a:solidFill>
            </a:endParaRPr>
          </a:p>
          <a:p>
            <a:pPr algn="ctr">
              <a:defRPr sz="1425" b="1">
                <a:solidFill>
                  <a:srgbClr val="06346F"/>
                </a:solidFill>
              </a:defRPr>
            </a:pPr>
            <a:r>
              <a:rPr sz="1425" b="1">
                <a:solidFill>
                  <a:srgbClr val="06346F"/>
                </a:solidFill>
              </a:rPr>
              <a:t>（招生单位）</a:t>
            </a:r>
            <a:endParaRPr sz="1425" b="1">
              <a:solidFill>
                <a:srgbClr val="06346F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8382000" y="5334000"/>
            <a:ext cx="1762125" cy="666750"/>
          </a:xfrm>
          <a:prstGeom prst="roundRect">
            <a:avLst>
              <a:gd name="adj" fmla="val 14286"/>
            </a:avLst>
          </a:prstGeom>
          <a:solidFill>
            <a:srgbClr val="FBF7EF"/>
          </a:solidFill>
          <a:ln w="0">
            <a:noFill/>
            <a:prstDash val="solid"/>
          </a:ln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8382000" y="5334000"/>
            <a:ext cx="1762125" cy="666750"/>
          </a:xfrm>
          <a:prstGeom prst="roundRect">
            <a:avLst>
              <a:gd name="adj" fmla="val 14286"/>
            </a:avLst>
          </a:prstGeom>
          <a:noFill/>
          <a:ln w="9525">
            <a:solidFill>
              <a:srgbClr val="06346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429625" y="5410200"/>
            <a:ext cx="1666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06346F"/>
                </a:solidFill>
              </a:defRPr>
            </a:pPr>
            <a:r>
              <a:rPr sz="1425" b="1">
                <a:solidFill>
                  <a:srgbClr val="06346F"/>
                </a:solidFill>
              </a:rPr>
              <a:t>录取结果</a:t>
            </a:r>
            <a:endParaRPr sz="1425" b="1">
              <a:solidFill>
                <a:srgbClr val="06346F"/>
              </a:solidFill>
            </a:endParaRPr>
          </a:p>
          <a:p>
            <a:pPr algn="ctr">
              <a:defRPr sz="1425" b="1">
                <a:solidFill>
                  <a:srgbClr val="06346F"/>
                </a:solidFill>
              </a:defRPr>
            </a:pPr>
            <a:r>
              <a:rPr sz="1425" b="1">
                <a:solidFill>
                  <a:srgbClr val="06346F"/>
                </a:solidFill>
              </a:rPr>
              <a:t>（最终呈现）</a:t>
            </a:r>
            <a:endParaRPr sz="1425" b="1">
              <a:solidFill>
                <a:srgbClr val="06346F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0" y="6315075"/>
            <a:ext cx="12192000" cy="542925"/>
          </a:xfrm>
          <a:prstGeom prst="rect">
            <a:avLst/>
          </a:prstGeom>
          <a:solidFill>
            <a:srgbClr val="003B78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457200" y="64770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新高一规划  |  江苏高中三年规划指南</a:t>
            </a:r>
            <a:endParaRPr sz="12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WPS 演示</Application>
  <PresentationFormat>Converted Presentation</PresentationFormat>
  <Paragraphs>54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1</cp:revision>
  <dcterms:created xsi:type="dcterms:W3CDTF">2026-08-09T12:13:12Z</dcterms:created>
  <dcterms:modified xsi:type="dcterms:W3CDTF">2026-08-09T12:13:12Z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D160270E65E34E9C9C4559D4D6AD9509_12</vt:lpwstr>
  </property>
  <property fmtid="{D5CDD505-2E9C-101B-9397-08002B2CF9AE}" pid="3" name="KSOProductBuildVer">
    <vt:lpwstr>2052-12.1.0.28022</vt:lpwstr>
  </property>
</Properties>
</file>