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page2-bg-deep-spac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20711"/>
              </a:gs>
              <a:gs pos="54000">
                <a:srgbClr val="06172B"/>
              </a:gs>
              <a:gs pos="100000">
                <a:srgbClr val="020916"/>
              </a:gs>
            </a:gsLst>
            <a:lin ang="10800000"/>
          </a:gradFill>
          <a:ln w="0">
            <a:noFill/>
            <a:prstDash val="solid"/>
          </a:ln>
        </p:spPr>
      </p:sp>
      <p:sp>
        <p:nvSpPr>
          <p:cNvPr id="2" name="page2-center-glow"/>
          <p:cNvSpPr>
            <a:spLocks noGrp="1"/>
          </p:cNvSpPr>
          <p:nvPr/>
        </p:nvSpPr>
        <p:spPr>
          <a:xfrm>
            <a:off x="2000250" y="1143000"/>
            <a:ext cx="8286750" cy="3714750"/>
          </a:xfrm>
          <a:prstGeom prst="rect">
            <a:avLst/>
          </a:prstGeom>
          <a:gradFill>
            <a:gsLst>
              <a:gs pos="0">
                <a:srgbClr val="0D5ED0">
                  <a:alpha val="28000"/>
                </a:srgbClr>
              </a:gs>
              <a:gs pos="42000">
                <a:srgbClr val="092B60">
                  <a:alpha val="20000"/>
                </a:srgbClr>
              </a:gs>
              <a:gs pos="100000">
                <a:srgbClr val="020816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895885" cy="5138034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8239809" y="0"/>
            <a:ext cx="3952191" cy="3316036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5538874"/>
            <a:ext cx="12192000" cy="1319126"/>
          </a:xfrm>
          <a:prstGeom prst="rect">
            <a:avLst/>
          </a:prstGeom>
        </p:spPr>
      </p:pic>
      <p:sp>
        <p:nvSpPr>
          <p:cNvPr id="6" name="page2-editable-title"/>
          <p:cNvSpPr>
            <a:spLocks noGrp="1"/>
          </p:cNvSpPr>
          <p:nvPr/>
        </p:nvSpPr>
        <p:spPr>
          <a:xfrm>
            <a:off x="1428750" y="438150"/>
            <a:ext cx="6619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600" b="1">
                <a:ln w="6191">
                  <a:solidFill>
                    <a:srgbClr val="C5EFFF">
                      <a:alpha val="35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600" b="1">
                <a:ln w="6191">
                  <a:solidFill>
                    <a:srgbClr val="C5EFFF">
                      <a:alpha val="35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生物医学工程，到底学什么？</a:t>
            </a:r>
            <a:endParaRPr sz="3600" b="1">
              <a:ln w="6191">
                <a:solidFill>
                  <a:srgbClr val="C5EFFF">
                    <a:alpha val="35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page2-editable-subtitle"/>
          <p:cNvSpPr>
            <a:spLocks noGrp="1"/>
          </p:cNvSpPr>
          <p:nvPr/>
        </p:nvSpPr>
        <p:spPr>
          <a:xfrm>
            <a:off x="4572000" y="1352550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875" b="0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0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工程技术解决医学问题。</a:t>
            </a:r>
            <a:endParaRPr sz="1875" b="0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2078182" y="1749118"/>
            <a:ext cx="1421914" cy="1421158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rcRect t="27" b="27"/>
          <a:stretch>
            <a:fillRect/>
          </a:stretch>
        </p:blipFill>
        <p:spPr>
          <a:xfrm>
            <a:off x="3463636" y="2200973"/>
            <a:ext cx="751062" cy="641343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6"/>
          <a:srcRect t="27" b="27"/>
          <a:stretch>
            <a:fillRect/>
          </a:stretch>
        </p:blipFill>
        <p:spPr>
          <a:xfrm>
            <a:off x="4338660" y="1749118"/>
            <a:ext cx="1421914" cy="1421158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7"/>
          <a:srcRect t="27" b="27"/>
          <a:stretch>
            <a:fillRect/>
          </a:stretch>
        </p:blipFill>
        <p:spPr>
          <a:xfrm>
            <a:off x="5724115" y="2200973"/>
            <a:ext cx="751062" cy="641343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8"/>
          <a:srcRect t="27" b="27"/>
          <a:stretch>
            <a:fillRect/>
          </a:stretch>
        </p:blipFill>
        <p:spPr>
          <a:xfrm>
            <a:off x="6599139" y="1749118"/>
            <a:ext cx="1421914" cy="1421158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9"/>
          <a:srcRect t="27" b="27"/>
          <a:stretch>
            <a:fillRect/>
          </a:stretch>
        </p:blipFill>
        <p:spPr>
          <a:xfrm>
            <a:off x="8035636" y="2200973"/>
            <a:ext cx="751062" cy="641343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10"/>
          <a:srcRect t="27" b="27"/>
          <a:stretch>
            <a:fillRect/>
          </a:stretch>
        </p:blipFill>
        <p:spPr>
          <a:xfrm>
            <a:off x="8859617" y="1749118"/>
            <a:ext cx="1421914" cy="1421158"/>
          </a:xfrm>
          <a:prstGeom prst="rect">
            <a:avLst/>
          </a:prstGeom>
        </p:spPr>
      </p:pic>
      <p:sp>
        <p:nvSpPr>
          <p:cNvPr id="15" name="page2-label-signal"/>
          <p:cNvSpPr>
            <a:spLocks noGrp="1"/>
          </p:cNvSpPr>
          <p:nvPr/>
        </p:nvSpPr>
        <p:spPr>
          <a:xfrm>
            <a:off x="2209800" y="333375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信号采集</a:t>
            </a:r>
            <a:endParaRPr sz="18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page2-label-data"/>
          <p:cNvSpPr>
            <a:spLocks noGrp="1"/>
          </p:cNvSpPr>
          <p:nvPr/>
        </p:nvSpPr>
        <p:spPr>
          <a:xfrm>
            <a:off x="4476750" y="333375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数据处理</a:t>
            </a:r>
            <a:endParaRPr sz="18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page2-label-algorithm"/>
          <p:cNvSpPr>
            <a:spLocks noGrp="1"/>
          </p:cNvSpPr>
          <p:nvPr/>
        </p:nvSpPr>
        <p:spPr>
          <a:xfrm>
            <a:off x="6743700" y="333375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算法计算</a:t>
            </a:r>
            <a:endParaRPr sz="18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page2-label-device"/>
          <p:cNvSpPr>
            <a:spLocks noGrp="1"/>
          </p:cNvSpPr>
          <p:nvPr/>
        </p:nvSpPr>
        <p:spPr>
          <a:xfrm>
            <a:off x="9010650" y="333375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设备应用</a:t>
            </a:r>
            <a:endParaRPr sz="18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page2-editable-bottom-panel-outline"/>
          <p:cNvSpPr>
            <a:spLocks noGrp="1"/>
          </p:cNvSpPr>
          <p:nvPr/>
        </p:nvSpPr>
        <p:spPr>
          <a:xfrm>
            <a:off x="692727" y="3789756"/>
            <a:ext cx="10813837" cy="1836574"/>
          </a:xfrm>
          <a:prstGeom prst="roundRect">
            <a:avLst>
              <a:gd name="adj" fmla="val 11410"/>
            </a:avLst>
          </a:prstGeom>
          <a:solidFill>
            <a:srgbClr val="06182D">
              <a:alpha val="28000"/>
            </a:srgbClr>
          </a:solidFill>
          <a:ln w="10478">
            <a:solidFill>
              <a:srgbClr val="126ED8">
                <a:alpha val="78000"/>
              </a:srgbClr>
            </a:solidFill>
            <a:prstDash val="solid"/>
          </a:ln>
        </p:spPr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11"/>
          <a:srcRect t="27" b="27"/>
          <a:stretch>
            <a:fillRect/>
          </a:stretch>
        </p:blipFill>
        <p:spPr>
          <a:xfrm>
            <a:off x="1370871" y="3913651"/>
            <a:ext cx="1276077" cy="1246247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12"/>
          <a:srcRect t="27" b="27"/>
          <a:stretch>
            <a:fillRect/>
          </a:stretch>
        </p:blipFill>
        <p:spPr>
          <a:xfrm>
            <a:off x="2829244" y="4314491"/>
            <a:ext cx="816689" cy="583039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13"/>
          <a:srcRect t="27" b="27"/>
          <a:stretch>
            <a:fillRect/>
          </a:stretch>
        </p:blipFill>
        <p:spPr>
          <a:xfrm>
            <a:off x="3995943" y="3913651"/>
            <a:ext cx="1268785" cy="1246247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14"/>
          <a:srcRect t="27" b="27"/>
          <a:stretch>
            <a:fillRect/>
          </a:stretch>
        </p:blipFill>
        <p:spPr>
          <a:xfrm>
            <a:off x="5454316" y="4314491"/>
            <a:ext cx="816689" cy="583039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5"/>
          <a:srcRect t="27" b="27"/>
          <a:stretch>
            <a:fillRect/>
          </a:stretch>
        </p:blipFill>
        <p:spPr>
          <a:xfrm>
            <a:off x="6606431" y="3913651"/>
            <a:ext cx="1283368" cy="1246247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6"/>
          <a:srcRect t="27" b="27"/>
          <a:stretch>
            <a:fillRect/>
          </a:stretch>
        </p:blipFill>
        <p:spPr>
          <a:xfrm>
            <a:off x="8093971" y="4314491"/>
            <a:ext cx="816689" cy="583039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17"/>
          <a:srcRect t="27" b="27"/>
          <a:stretch>
            <a:fillRect/>
          </a:stretch>
        </p:blipFill>
        <p:spPr>
          <a:xfrm>
            <a:off x="9370048" y="3913651"/>
            <a:ext cx="1290660" cy="1246247"/>
          </a:xfrm>
          <a:prstGeom prst="rect">
            <a:avLst/>
          </a:prstGeom>
        </p:spPr>
      </p:pic>
      <p:sp>
        <p:nvSpPr>
          <p:cNvPr id="27" name="page2-label-xray"/>
          <p:cNvSpPr>
            <a:spLocks noGrp="1"/>
          </p:cNvSpPr>
          <p:nvPr/>
        </p:nvSpPr>
        <p:spPr>
          <a:xfrm>
            <a:off x="1533525" y="5219700"/>
            <a:ext cx="904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X 射线</a:t>
            </a:r>
            <a:endParaRPr sz="172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page2-label-medical-imaging"/>
          <p:cNvSpPr>
            <a:spLocks noGrp="1"/>
          </p:cNvSpPr>
          <p:nvPr/>
        </p:nvSpPr>
        <p:spPr>
          <a:xfrm>
            <a:off x="4086225" y="5219700"/>
            <a:ext cx="1095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医学影像</a:t>
            </a:r>
            <a:endParaRPr sz="172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page2-label-robot"/>
          <p:cNvSpPr>
            <a:spLocks noGrp="1"/>
          </p:cNvSpPr>
          <p:nvPr/>
        </p:nvSpPr>
        <p:spPr>
          <a:xfrm>
            <a:off x="6562725" y="521970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手术机器人</a:t>
            </a:r>
            <a:endParaRPr sz="172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page2-label-bci"/>
          <p:cNvSpPr>
            <a:spLocks noGrp="1"/>
          </p:cNvSpPr>
          <p:nvPr/>
        </p:nvSpPr>
        <p:spPr>
          <a:xfrm>
            <a:off x="9439275" y="521970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脑机接口</a:t>
            </a:r>
            <a:endParaRPr sz="172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page2-footer-text-mask"/>
          <p:cNvSpPr>
            <a:spLocks noGrp="1"/>
          </p:cNvSpPr>
          <p:nvPr/>
        </p:nvSpPr>
        <p:spPr>
          <a:xfrm>
            <a:off x="3000375" y="5753100"/>
            <a:ext cx="6191250" cy="342900"/>
          </a:xfrm>
          <a:prstGeom prst="rect">
            <a:avLst/>
          </a:prstGeom>
          <a:solidFill>
            <a:srgbClr val="06101F"/>
          </a:solidFill>
          <a:ln w="0">
            <a:noFill/>
            <a:prstDash val="solid"/>
          </a:ln>
        </p:spPr>
      </p:sp>
      <p:sp>
        <p:nvSpPr>
          <p:cNvPr id="32" name="page2-editable-footer-conclusion"/>
          <p:cNvSpPr>
            <a:spLocks noGrp="1"/>
          </p:cNvSpPr>
          <p:nvPr/>
        </p:nvSpPr>
        <p:spPr>
          <a:xfrm>
            <a:off x="3143250" y="5715000"/>
            <a:ext cx="590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500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从早期医疗设备到医疗 AI，工程技术不断改变现代医疗。</a:t>
            </a:r>
            <a:endParaRPr sz="1500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page2-footer-horizon-line"/>
          <p:cNvSpPr>
            <a:spLocks noGrp="1"/>
          </p:cNvSpPr>
          <p:nvPr/>
        </p:nvSpPr>
        <p:spPr>
          <a:xfrm>
            <a:off x="0" y="6324600"/>
            <a:ext cx="12192000" cy="15240"/>
          </a:xfrm>
          <a:prstGeom prst="rect">
            <a:avLst/>
          </a:prstGeom>
          <a:solidFill>
            <a:srgbClr val="0AA6FF">
              <a:alpha val="70000"/>
            </a:srgbClr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WPS 演示</Application>
  <PresentationFormat>Converted Presentation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Microsoft YaHei UI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1</cp:revision>
  <dcterms:created xsi:type="dcterms:W3CDTF">2026-08-09T12:13:09Z</dcterms:created>
  <dcterms:modified xsi:type="dcterms:W3CDTF">2026-08-09T12:13:09Z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A76F0371E6A84A7287AF69C16E4E2E32_12</vt:lpwstr>
  </property>
  <property fmtid="{D5CDD505-2E9C-101B-9397-08002B2CF9AE}" pid="3" name="KSOProductBuildVer">
    <vt:lpwstr>2052-12.1.0.28022</vt:lpwstr>
  </property>
</Properties>
</file>