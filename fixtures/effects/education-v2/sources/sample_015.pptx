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1" Type="http://schemas.openxmlformats.org/officeDocument/2006/relationships/notesSlide" Target="../notesSlides/notesSlide1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9" name="page4-bg-deep-space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20711"/>
              </a:gs>
              <a:gs pos="55000">
                <a:srgbClr val="07182D"/>
              </a:gs>
              <a:gs pos="100000">
                <a:srgbClr val="020916"/>
              </a:gs>
            </a:gsLst>
            <a:lin ang="10800000"/>
          </a:gradFill>
          <a:ln w="0">
            <a:noFill/>
            <a:prstDash val="solid"/>
          </a:ln>
        </p:spPr>
      </p:sp>
      <p:sp>
        <p:nvSpPr>
          <p:cNvPr id="2" name="page4-center-glow"/>
          <p:cNvSpPr>
            <a:spLocks noGrp="1"/>
          </p:cNvSpPr>
          <p:nvPr/>
        </p:nvSpPr>
        <p:spPr>
          <a:xfrm>
            <a:off x="1714500" y="857250"/>
            <a:ext cx="8953500" cy="5048250"/>
          </a:xfrm>
          <a:prstGeom prst="rect">
            <a:avLst/>
          </a:prstGeom>
          <a:gradFill>
            <a:gsLst>
              <a:gs pos="0">
                <a:srgbClr val="0B6BCF">
                  <a:alpha val="14000"/>
                </a:srgbClr>
              </a:gs>
              <a:gs pos="48000">
                <a:srgbClr val="063265">
                  <a:alpha val="9000"/>
                </a:srgbClr>
              </a:gs>
              <a:gs pos="100000">
                <a:srgbClr val="020816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306096"/>
            <a:ext cx="875024" cy="568463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5786665"/>
            <a:ext cx="12192000" cy="1071335"/>
          </a:xfrm>
          <a:prstGeom prst="rect">
            <a:avLst/>
          </a:prstGeom>
        </p:spPr>
      </p:pic>
      <p:sp>
        <p:nvSpPr>
          <p:cNvPr id="5" name="page4-editable-title"/>
          <p:cNvSpPr>
            <a:spLocks noGrp="1"/>
          </p:cNvSpPr>
          <p:nvPr/>
        </p:nvSpPr>
        <p:spPr>
          <a:xfrm>
            <a:off x="866775" y="29527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3000" b="1">
                <a:ln w="5239">
                  <a:solidFill>
                    <a:srgbClr val="C4EFFF">
                      <a:alpha val="25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3000" b="1">
                <a:ln w="5239">
                  <a:solidFill>
                    <a:srgbClr val="C4EFFF">
                      <a:alpha val="25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核心课程</a:t>
            </a:r>
            <a:endParaRPr sz="3000" b="1">
              <a:ln w="5239">
                <a:solidFill>
                  <a:srgbClr val="C4EFFF">
                    <a:alpha val="25000"/>
                  </a:srgbClr>
                </a:solidFill>
                <a:prstDash val="solid"/>
              </a:ln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422928" y="962015"/>
            <a:ext cx="1874010" cy="1727254"/>
          </a:xfrm>
          <a:prstGeom prst="rect">
            <a:avLst/>
          </a:prstGeom>
        </p:spPr>
      </p:pic>
      <p:sp>
        <p:nvSpPr>
          <p:cNvPr id="7" name="page4-title-mask-page4_card_engineering.png"/>
          <p:cNvSpPr>
            <a:spLocks noGrp="1"/>
          </p:cNvSpPr>
          <p:nvPr/>
        </p:nvSpPr>
        <p:spPr>
          <a:xfrm>
            <a:off x="470553" y="1028690"/>
            <a:ext cx="1778760" cy="510159"/>
          </a:xfrm>
          <a:prstGeom prst="rect">
            <a:avLst/>
          </a:prstGeom>
          <a:solidFill>
            <a:srgbClr val="07234A">
              <a:alpha val="98000"/>
            </a:srgbClr>
          </a:solidFill>
          <a:ln w="0">
            <a:noFill/>
            <a:prstDash val="solid"/>
          </a:ln>
        </p:spPr>
      </p:sp>
      <p:sp>
        <p:nvSpPr>
          <p:cNvPr id="8" name="page4-editable-card-title-page4_card_engineering.png"/>
          <p:cNvSpPr>
            <a:spLocks noGrp="1"/>
          </p:cNvSpPr>
          <p:nvPr/>
        </p:nvSpPr>
        <p:spPr>
          <a:xfrm>
            <a:off x="508653" y="1047740"/>
            <a:ext cx="1702560" cy="4737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1875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75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工程基础</a:t>
            </a:r>
            <a:endParaRPr sz="1875" b="1">
              <a:ln w="3810">
                <a:solidFill>
                  <a:srgbClr val="BFEFFF">
                    <a:alpha val="18000"/>
                  </a:srgbClr>
                </a:solidFill>
                <a:prstDash val="solid"/>
              </a:ln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pic>
        <p:nvPicPr>
          <p:cNvPr id="67" name="图片 66"/>
          <p:cNvPicPr>
            <a:picLocks noChangeAspect="1"/>
          </p:cNvPicPr>
          <p:nvPr/>
        </p:nvPicPr>
        <p:blipFill>
          <a:blip r:embed="rId4"/>
          <a:srcRect t="27" b="27"/>
          <a:stretch>
            <a:fillRect/>
          </a:stretch>
        </p:blipFill>
        <p:spPr>
          <a:xfrm>
            <a:off x="2377148" y="962015"/>
            <a:ext cx="1684421" cy="1727254"/>
          </a:xfrm>
          <a:prstGeom prst="rect">
            <a:avLst/>
          </a:prstGeom>
        </p:spPr>
      </p:pic>
      <p:sp>
        <p:nvSpPr>
          <p:cNvPr id="10" name="page4-title-mask-page4_card_signals_systems.png"/>
          <p:cNvSpPr>
            <a:spLocks noGrp="1"/>
          </p:cNvSpPr>
          <p:nvPr/>
        </p:nvSpPr>
        <p:spPr>
          <a:xfrm>
            <a:off x="2424773" y="1028690"/>
            <a:ext cx="1589171" cy="510159"/>
          </a:xfrm>
          <a:prstGeom prst="rect">
            <a:avLst/>
          </a:prstGeom>
          <a:solidFill>
            <a:srgbClr val="071A36">
              <a:alpha val="98000"/>
            </a:srgbClr>
          </a:solidFill>
          <a:ln w="0">
            <a:noFill/>
            <a:prstDash val="solid"/>
          </a:ln>
        </p:spPr>
      </p:sp>
      <p:sp>
        <p:nvSpPr>
          <p:cNvPr id="11" name="page4-editable-card-title-page4_card_signals_systems.png"/>
          <p:cNvSpPr>
            <a:spLocks noGrp="1"/>
          </p:cNvSpPr>
          <p:nvPr/>
        </p:nvSpPr>
        <p:spPr>
          <a:xfrm>
            <a:off x="2462873" y="1047740"/>
            <a:ext cx="1512971" cy="4737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1650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信号与系统</a:t>
            </a:r>
            <a:endParaRPr sz="1650" b="1">
              <a:ln w="3810">
                <a:solidFill>
                  <a:srgbClr val="BFEFFF">
                    <a:alpha val="18000"/>
                  </a:srgbClr>
                </a:solidFill>
                <a:prstDash val="solid"/>
              </a:ln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pic>
        <p:nvPicPr>
          <p:cNvPr id="70" name="图片 69"/>
          <p:cNvPicPr>
            <a:picLocks noChangeAspect="1"/>
          </p:cNvPicPr>
          <p:nvPr/>
        </p:nvPicPr>
        <p:blipFill>
          <a:blip r:embed="rId5"/>
          <a:srcRect t="27" b="27"/>
          <a:stretch>
            <a:fillRect/>
          </a:stretch>
        </p:blipFill>
        <p:spPr>
          <a:xfrm>
            <a:off x="4127196" y="962015"/>
            <a:ext cx="1553167" cy="1727254"/>
          </a:xfrm>
          <a:prstGeom prst="rect">
            <a:avLst/>
          </a:prstGeom>
        </p:spPr>
      </p:pic>
      <p:sp>
        <p:nvSpPr>
          <p:cNvPr id="13" name="page4-title-mask-page4_card_digital_signal.png"/>
          <p:cNvSpPr>
            <a:spLocks noGrp="1"/>
          </p:cNvSpPr>
          <p:nvPr/>
        </p:nvSpPr>
        <p:spPr>
          <a:xfrm>
            <a:off x="4174821" y="1028690"/>
            <a:ext cx="1457917" cy="510159"/>
          </a:xfrm>
          <a:prstGeom prst="rect">
            <a:avLst/>
          </a:prstGeom>
          <a:solidFill>
            <a:srgbClr val="071A36">
              <a:alpha val="98000"/>
            </a:srgbClr>
          </a:solidFill>
          <a:ln w="0">
            <a:noFill/>
            <a:prstDash val="solid"/>
          </a:ln>
        </p:spPr>
      </p:sp>
      <p:sp>
        <p:nvSpPr>
          <p:cNvPr id="14" name="page4-editable-card-title-page4_card_digital_signal.png"/>
          <p:cNvSpPr>
            <a:spLocks noGrp="1"/>
          </p:cNvSpPr>
          <p:nvPr/>
        </p:nvSpPr>
        <p:spPr>
          <a:xfrm>
            <a:off x="4212921" y="1047740"/>
            <a:ext cx="1381717" cy="4737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1575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数字信号处理</a:t>
            </a:r>
            <a:endParaRPr sz="1575" b="1">
              <a:ln w="3810">
                <a:solidFill>
                  <a:srgbClr val="BFEFFF">
                    <a:alpha val="18000"/>
                  </a:srgbClr>
                </a:solidFill>
                <a:prstDash val="solid"/>
              </a:ln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pic>
        <p:nvPicPr>
          <p:cNvPr id="73" name="图片 72"/>
          <p:cNvPicPr>
            <a:picLocks noChangeAspect="1"/>
          </p:cNvPicPr>
          <p:nvPr/>
        </p:nvPicPr>
        <p:blipFill>
          <a:blip r:embed="rId6"/>
          <a:srcRect t="27" b="27"/>
          <a:stretch>
            <a:fillRect/>
          </a:stretch>
        </p:blipFill>
        <p:spPr>
          <a:xfrm>
            <a:off x="5745990" y="962015"/>
            <a:ext cx="1451081" cy="1727254"/>
          </a:xfrm>
          <a:prstGeom prst="rect">
            <a:avLst/>
          </a:prstGeom>
        </p:spPr>
      </p:pic>
      <p:sp>
        <p:nvSpPr>
          <p:cNvPr id="16" name="page4-title-mask-page4_card_circuit_analysis.png"/>
          <p:cNvSpPr>
            <a:spLocks noGrp="1"/>
          </p:cNvSpPr>
          <p:nvPr/>
        </p:nvSpPr>
        <p:spPr>
          <a:xfrm>
            <a:off x="5793615" y="1028690"/>
            <a:ext cx="1355831" cy="510159"/>
          </a:xfrm>
          <a:prstGeom prst="rect">
            <a:avLst/>
          </a:prstGeom>
          <a:solidFill>
            <a:srgbClr val="071A36">
              <a:alpha val="98000"/>
            </a:srgbClr>
          </a:solidFill>
          <a:ln w="0">
            <a:noFill/>
            <a:prstDash val="solid"/>
          </a:ln>
        </p:spPr>
      </p:sp>
      <p:sp>
        <p:nvSpPr>
          <p:cNvPr id="17" name="page4-editable-card-title-page4_card_circuit_analysis.png"/>
          <p:cNvSpPr>
            <a:spLocks noGrp="1"/>
          </p:cNvSpPr>
          <p:nvPr/>
        </p:nvSpPr>
        <p:spPr>
          <a:xfrm>
            <a:off x="5831715" y="1047740"/>
            <a:ext cx="1279631" cy="4737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1650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电路分析</a:t>
            </a:r>
            <a:endParaRPr sz="1650" b="1">
              <a:ln w="3810">
                <a:solidFill>
                  <a:srgbClr val="BFEFFF">
                    <a:alpha val="18000"/>
                  </a:srgbClr>
                </a:solidFill>
                <a:prstDash val="solid"/>
              </a:ln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7"/>
          <a:srcRect t="27" b="27"/>
          <a:stretch>
            <a:fillRect/>
          </a:stretch>
        </p:blipFill>
        <p:spPr>
          <a:xfrm>
            <a:off x="7269990" y="962015"/>
            <a:ext cx="1480249" cy="1727254"/>
          </a:xfrm>
          <a:prstGeom prst="rect">
            <a:avLst/>
          </a:prstGeom>
        </p:spPr>
      </p:pic>
      <p:sp>
        <p:nvSpPr>
          <p:cNvPr id="19" name="page4-title-mask-page4_card_analog_electronics.png"/>
          <p:cNvSpPr>
            <a:spLocks noGrp="1"/>
          </p:cNvSpPr>
          <p:nvPr/>
        </p:nvSpPr>
        <p:spPr>
          <a:xfrm>
            <a:off x="7317615" y="1028690"/>
            <a:ext cx="1384999" cy="510159"/>
          </a:xfrm>
          <a:prstGeom prst="rect">
            <a:avLst/>
          </a:prstGeom>
          <a:solidFill>
            <a:srgbClr val="071A36">
              <a:alpha val="98000"/>
            </a:srgbClr>
          </a:solidFill>
          <a:ln w="0">
            <a:noFill/>
            <a:prstDash val="solid"/>
          </a:ln>
        </p:spPr>
      </p:sp>
      <p:sp>
        <p:nvSpPr>
          <p:cNvPr id="20" name="page4-editable-card-title-page4_card_analog_electronics.png"/>
          <p:cNvSpPr>
            <a:spLocks noGrp="1"/>
          </p:cNvSpPr>
          <p:nvPr/>
        </p:nvSpPr>
        <p:spPr>
          <a:xfrm>
            <a:off x="7355715" y="1047740"/>
            <a:ext cx="1308799" cy="4737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1500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模拟电子技术</a:t>
            </a:r>
            <a:endParaRPr sz="1500" b="1">
              <a:ln w="3810">
                <a:solidFill>
                  <a:srgbClr val="BFEFFF">
                    <a:alpha val="18000"/>
                  </a:srgbClr>
                </a:solidFill>
                <a:prstDash val="solid"/>
              </a:ln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pic>
        <p:nvPicPr>
          <p:cNvPr id="79" name="图片 78"/>
          <p:cNvPicPr>
            <a:picLocks noChangeAspect="1"/>
          </p:cNvPicPr>
          <p:nvPr/>
        </p:nvPicPr>
        <p:blipFill>
          <a:blip r:embed="rId8"/>
          <a:srcRect t="27" b="27"/>
          <a:stretch>
            <a:fillRect/>
          </a:stretch>
        </p:blipFill>
        <p:spPr>
          <a:xfrm>
            <a:off x="8815866" y="962015"/>
            <a:ext cx="1472957" cy="1727254"/>
          </a:xfrm>
          <a:prstGeom prst="rect">
            <a:avLst/>
          </a:prstGeom>
        </p:spPr>
      </p:pic>
      <p:sp>
        <p:nvSpPr>
          <p:cNvPr id="22" name="page4-title-mask-page4_card_digital_electronics.png"/>
          <p:cNvSpPr>
            <a:spLocks noGrp="1"/>
          </p:cNvSpPr>
          <p:nvPr/>
        </p:nvSpPr>
        <p:spPr>
          <a:xfrm>
            <a:off x="8863491" y="1028690"/>
            <a:ext cx="1377707" cy="510159"/>
          </a:xfrm>
          <a:prstGeom prst="rect">
            <a:avLst/>
          </a:prstGeom>
          <a:solidFill>
            <a:srgbClr val="071A36">
              <a:alpha val="98000"/>
            </a:srgbClr>
          </a:solidFill>
          <a:ln w="0">
            <a:noFill/>
            <a:prstDash val="solid"/>
          </a:ln>
        </p:spPr>
      </p:sp>
      <p:sp>
        <p:nvSpPr>
          <p:cNvPr id="23" name="page4-editable-card-title-page4_card_digital_electronics.png"/>
          <p:cNvSpPr>
            <a:spLocks noGrp="1"/>
          </p:cNvSpPr>
          <p:nvPr/>
        </p:nvSpPr>
        <p:spPr>
          <a:xfrm>
            <a:off x="8901591" y="1047740"/>
            <a:ext cx="1301507" cy="4737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1500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数字电子技术</a:t>
            </a:r>
            <a:endParaRPr sz="1500" b="1">
              <a:ln w="3810">
                <a:solidFill>
                  <a:srgbClr val="BFEFFF">
                    <a:alpha val="18000"/>
                  </a:srgbClr>
                </a:solidFill>
                <a:prstDash val="solid"/>
              </a:ln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>
          <a:blip r:embed="rId9"/>
          <a:srcRect t="27" b="27"/>
          <a:stretch>
            <a:fillRect/>
          </a:stretch>
        </p:blipFill>
        <p:spPr>
          <a:xfrm>
            <a:off x="10354450" y="962015"/>
            <a:ext cx="1421914" cy="1727254"/>
          </a:xfrm>
          <a:prstGeom prst="rect">
            <a:avLst/>
          </a:prstGeom>
        </p:spPr>
      </p:pic>
      <p:sp>
        <p:nvSpPr>
          <p:cNvPr id="25" name="page4-title-mask-page4_card_microcontroller.png"/>
          <p:cNvSpPr>
            <a:spLocks noGrp="1"/>
          </p:cNvSpPr>
          <p:nvPr/>
        </p:nvSpPr>
        <p:spPr>
          <a:xfrm>
            <a:off x="10402075" y="1028690"/>
            <a:ext cx="1326664" cy="510159"/>
          </a:xfrm>
          <a:prstGeom prst="rect">
            <a:avLst/>
          </a:prstGeom>
          <a:solidFill>
            <a:srgbClr val="071A36">
              <a:alpha val="98000"/>
            </a:srgbClr>
          </a:solidFill>
          <a:ln w="0">
            <a:noFill/>
            <a:prstDash val="solid"/>
          </a:ln>
        </p:spPr>
      </p:sp>
      <p:sp>
        <p:nvSpPr>
          <p:cNvPr id="26" name="page4-editable-card-title-page4_card_microcontroller.png"/>
          <p:cNvSpPr>
            <a:spLocks noGrp="1"/>
          </p:cNvSpPr>
          <p:nvPr/>
        </p:nvSpPr>
        <p:spPr>
          <a:xfrm>
            <a:off x="10440175" y="1047740"/>
            <a:ext cx="1250464" cy="4737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1425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25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单片机与</a:t>
            </a:r>
            <a:endParaRPr sz="1425" b="1">
              <a:ln w="3810">
                <a:solidFill>
                  <a:srgbClr val="BFEFFF">
                    <a:alpha val="18000"/>
                  </a:srgbClr>
                </a:solidFill>
                <a:prstDash val="solid"/>
              </a:ln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lnSpc>
                <a:spcPct val="90000"/>
              </a:lnSpc>
              <a:buNone/>
              <a:defRPr sz="1425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25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程序设计</a:t>
            </a:r>
            <a:endParaRPr sz="1425" b="1">
              <a:ln w="3810">
                <a:solidFill>
                  <a:srgbClr val="BFEFFF">
                    <a:alpha val="18000"/>
                  </a:srgbClr>
                </a:solidFill>
                <a:prstDash val="solid"/>
              </a:ln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pic>
        <p:nvPicPr>
          <p:cNvPr id="85" name="图片 84"/>
          <p:cNvPicPr>
            <a:picLocks noChangeAspect="1"/>
          </p:cNvPicPr>
          <p:nvPr/>
        </p:nvPicPr>
        <p:blipFill>
          <a:blip r:embed="rId10"/>
          <a:srcRect t="27" b="27"/>
          <a:stretch>
            <a:fillRect/>
          </a:stretch>
        </p:blipFill>
        <p:spPr>
          <a:xfrm>
            <a:off x="422928" y="2820453"/>
            <a:ext cx="1874010" cy="1428446"/>
          </a:xfrm>
          <a:prstGeom prst="rect">
            <a:avLst/>
          </a:prstGeom>
        </p:spPr>
      </p:pic>
      <p:sp>
        <p:nvSpPr>
          <p:cNvPr id="28" name="page4-title-mask-page4_card_interdisciplinary.png"/>
          <p:cNvSpPr>
            <a:spLocks noGrp="1"/>
          </p:cNvSpPr>
          <p:nvPr/>
        </p:nvSpPr>
        <p:spPr>
          <a:xfrm>
            <a:off x="470553" y="2887128"/>
            <a:ext cx="1778760" cy="437279"/>
          </a:xfrm>
          <a:prstGeom prst="rect">
            <a:avLst/>
          </a:prstGeom>
          <a:solidFill>
            <a:srgbClr val="062B3B">
              <a:alpha val="98000"/>
            </a:srgbClr>
          </a:solidFill>
          <a:ln w="0">
            <a:noFill/>
            <a:prstDash val="solid"/>
          </a:ln>
        </p:spPr>
      </p:sp>
      <p:sp>
        <p:nvSpPr>
          <p:cNvPr id="29" name="page4-editable-card-title-page4_card_interdisciplinary.png"/>
          <p:cNvSpPr>
            <a:spLocks noGrp="1"/>
          </p:cNvSpPr>
          <p:nvPr/>
        </p:nvSpPr>
        <p:spPr>
          <a:xfrm>
            <a:off x="508653" y="2906178"/>
            <a:ext cx="1702560" cy="400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1875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75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医工交叉</a:t>
            </a:r>
            <a:endParaRPr sz="1875" b="1">
              <a:ln w="3810">
                <a:solidFill>
                  <a:srgbClr val="BFEFFF">
                    <a:alpha val="18000"/>
                  </a:srgbClr>
                </a:solidFill>
                <a:prstDash val="solid"/>
              </a:ln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pic>
        <p:nvPicPr>
          <p:cNvPr id="88" name="图片 87"/>
          <p:cNvPicPr>
            <a:picLocks noChangeAspect="1"/>
          </p:cNvPicPr>
          <p:nvPr/>
        </p:nvPicPr>
        <p:blipFill>
          <a:blip r:embed="rId11"/>
          <a:srcRect t="27" b="27"/>
          <a:stretch>
            <a:fillRect/>
          </a:stretch>
        </p:blipFill>
        <p:spPr>
          <a:xfrm>
            <a:off x="2377148" y="2820453"/>
            <a:ext cx="1903177" cy="1428446"/>
          </a:xfrm>
          <a:prstGeom prst="rect">
            <a:avLst/>
          </a:prstGeom>
        </p:spPr>
      </p:pic>
      <p:sp>
        <p:nvSpPr>
          <p:cNvPr id="31" name="page4-title-mask-page4_card_medical_signal.png"/>
          <p:cNvSpPr>
            <a:spLocks noGrp="1"/>
          </p:cNvSpPr>
          <p:nvPr/>
        </p:nvSpPr>
        <p:spPr>
          <a:xfrm>
            <a:off x="2424773" y="2887128"/>
            <a:ext cx="1807927" cy="437279"/>
          </a:xfrm>
          <a:prstGeom prst="rect">
            <a:avLst/>
          </a:prstGeom>
          <a:solidFill>
            <a:srgbClr val="061E2D">
              <a:alpha val="98000"/>
            </a:srgbClr>
          </a:solidFill>
          <a:ln w="0">
            <a:noFill/>
            <a:prstDash val="solid"/>
          </a:ln>
        </p:spPr>
      </p:sp>
      <p:sp>
        <p:nvSpPr>
          <p:cNvPr id="32" name="page4-editable-card-title-page4_card_medical_signal.png"/>
          <p:cNvSpPr>
            <a:spLocks noGrp="1"/>
          </p:cNvSpPr>
          <p:nvPr/>
        </p:nvSpPr>
        <p:spPr>
          <a:xfrm>
            <a:off x="2462873" y="2906178"/>
            <a:ext cx="1731727" cy="400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1575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医学信号分析</a:t>
            </a:r>
            <a:endParaRPr sz="1575" b="1">
              <a:ln w="3810">
                <a:solidFill>
                  <a:srgbClr val="BFEFFF">
                    <a:alpha val="18000"/>
                  </a:srgbClr>
                </a:solidFill>
                <a:prstDash val="solid"/>
              </a:ln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pic>
        <p:nvPicPr>
          <p:cNvPr id="91" name="图片 90"/>
          <p:cNvPicPr>
            <a:picLocks noChangeAspect="1"/>
          </p:cNvPicPr>
          <p:nvPr/>
        </p:nvPicPr>
        <p:blipFill>
          <a:blip r:embed="rId12"/>
          <a:srcRect t="27" b="27"/>
          <a:stretch>
            <a:fillRect/>
          </a:stretch>
        </p:blipFill>
        <p:spPr>
          <a:xfrm>
            <a:off x="4353244" y="2820453"/>
            <a:ext cx="1750048" cy="1428446"/>
          </a:xfrm>
          <a:prstGeom prst="rect">
            <a:avLst/>
          </a:prstGeom>
        </p:spPr>
      </p:pic>
      <p:sp>
        <p:nvSpPr>
          <p:cNvPr id="34" name="page4-title-mask-page4_card_medical_sensor.png"/>
          <p:cNvSpPr>
            <a:spLocks noGrp="1"/>
          </p:cNvSpPr>
          <p:nvPr/>
        </p:nvSpPr>
        <p:spPr>
          <a:xfrm>
            <a:off x="4400869" y="2887128"/>
            <a:ext cx="1654798" cy="437279"/>
          </a:xfrm>
          <a:prstGeom prst="rect">
            <a:avLst/>
          </a:prstGeom>
          <a:solidFill>
            <a:srgbClr val="061E2D">
              <a:alpha val="98000"/>
            </a:srgbClr>
          </a:solidFill>
          <a:ln w="0">
            <a:noFill/>
            <a:prstDash val="solid"/>
          </a:ln>
        </p:spPr>
      </p:sp>
      <p:sp>
        <p:nvSpPr>
          <p:cNvPr id="35" name="page4-editable-card-title-page4_card_medical_sensor.png"/>
          <p:cNvSpPr>
            <a:spLocks noGrp="1"/>
          </p:cNvSpPr>
          <p:nvPr/>
        </p:nvSpPr>
        <p:spPr>
          <a:xfrm>
            <a:off x="4438969" y="2906178"/>
            <a:ext cx="1578598" cy="400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1575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医用传感器</a:t>
            </a:r>
            <a:endParaRPr sz="1575" b="1">
              <a:ln w="3810">
                <a:solidFill>
                  <a:srgbClr val="BFEFFF">
                    <a:alpha val="18000"/>
                  </a:srgbClr>
                </a:solidFill>
                <a:prstDash val="solid"/>
              </a:ln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pic>
        <p:nvPicPr>
          <p:cNvPr id="94" name="图片 93"/>
          <p:cNvPicPr>
            <a:picLocks noChangeAspect="1"/>
          </p:cNvPicPr>
          <p:nvPr/>
        </p:nvPicPr>
        <p:blipFill>
          <a:blip r:embed="rId13"/>
          <a:srcRect t="27" b="27"/>
          <a:stretch>
            <a:fillRect/>
          </a:stretch>
        </p:blipFill>
        <p:spPr>
          <a:xfrm>
            <a:off x="6176211" y="2820453"/>
            <a:ext cx="1925053" cy="1428446"/>
          </a:xfrm>
          <a:prstGeom prst="rect">
            <a:avLst/>
          </a:prstGeom>
        </p:spPr>
      </p:pic>
      <p:sp>
        <p:nvSpPr>
          <p:cNvPr id="37" name="page4-title-mask-page4_card_imaging_principles.png"/>
          <p:cNvSpPr>
            <a:spLocks noGrp="1"/>
          </p:cNvSpPr>
          <p:nvPr/>
        </p:nvSpPr>
        <p:spPr>
          <a:xfrm>
            <a:off x="6223836" y="2887128"/>
            <a:ext cx="1829803" cy="437279"/>
          </a:xfrm>
          <a:prstGeom prst="rect">
            <a:avLst/>
          </a:prstGeom>
          <a:solidFill>
            <a:srgbClr val="061E2D">
              <a:alpha val="98000"/>
            </a:srgbClr>
          </a:solidFill>
          <a:ln w="0">
            <a:noFill/>
            <a:prstDash val="solid"/>
          </a:ln>
        </p:spPr>
      </p:sp>
      <p:sp>
        <p:nvSpPr>
          <p:cNvPr id="38" name="page4-editable-card-title-page4_card_imaging_principles.png"/>
          <p:cNvSpPr>
            <a:spLocks noGrp="1"/>
          </p:cNvSpPr>
          <p:nvPr/>
        </p:nvSpPr>
        <p:spPr>
          <a:xfrm>
            <a:off x="6261936" y="2906178"/>
            <a:ext cx="1753603" cy="400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1575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医学成像原理</a:t>
            </a:r>
            <a:endParaRPr sz="1575" b="1">
              <a:ln w="3810">
                <a:solidFill>
                  <a:srgbClr val="BFEFFF">
                    <a:alpha val="18000"/>
                  </a:srgbClr>
                </a:solidFill>
                <a:prstDash val="solid"/>
              </a:ln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pic>
        <p:nvPicPr>
          <p:cNvPr id="97" name="图片 96"/>
          <p:cNvPicPr>
            <a:picLocks noChangeAspect="1"/>
          </p:cNvPicPr>
          <p:nvPr/>
        </p:nvPicPr>
        <p:blipFill>
          <a:blip r:embed="rId14"/>
          <a:srcRect t="27" b="27"/>
          <a:stretch>
            <a:fillRect/>
          </a:stretch>
        </p:blipFill>
        <p:spPr>
          <a:xfrm>
            <a:off x="8174182" y="2820453"/>
            <a:ext cx="1815675" cy="1428446"/>
          </a:xfrm>
          <a:prstGeom prst="rect">
            <a:avLst/>
          </a:prstGeom>
        </p:spPr>
      </p:pic>
      <p:sp>
        <p:nvSpPr>
          <p:cNvPr id="40" name="page4-title-mask-page4_card_biomedical_electronics.png"/>
          <p:cNvSpPr>
            <a:spLocks noGrp="1"/>
          </p:cNvSpPr>
          <p:nvPr/>
        </p:nvSpPr>
        <p:spPr>
          <a:xfrm>
            <a:off x="8221807" y="2887128"/>
            <a:ext cx="1720425" cy="437279"/>
          </a:xfrm>
          <a:prstGeom prst="rect">
            <a:avLst/>
          </a:prstGeom>
          <a:solidFill>
            <a:srgbClr val="061E2D">
              <a:alpha val="98000"/>
            </a:srgbClr>
          </a:solidFill>
          <a:ln w="0">
            <a:noFill/>
            <a:prstDash val="solid"/>
          </a:ln>
        </p:spPr>
      </p:sp>
      <p:sp>
        <p:nvSpPr>
          <p:cNvPr id="41" name="page4-editable-card-title-page4_card_biomedical_electronics.png"/>
          <p:cNvSpPr>
            <a:spLocks noGrp="1"/>
          </p:cNvSpPr>
          <p:nvPr/>
        </p:nvSpPr>
        <p:spPr>
          <a:xfrm>
            <a:off x="8259907" y="2906178"/>
            <a:ext cx="1644225" cy="400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1425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25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生物医学电子学</a:t>
            </a:r>
            <a:endParaRPr sz="1425" b="1">
              <a:ln w="3810">
                <a:solidFill>
                  <a:srgbClr val="BFEFFF">
                    <a:alpha val="18000"/>
                  </a:srgbClr>
                </a:solidFill>
                <a:prstDash val="solid"/>
              </a:ln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15"/>
          <a:srcRect t="27" b="27"/>
          <a:stretch>
            <a:fillRect/>
          </a:stretch>
        </p:blipFill>
        <p:spPr>
          <a:xfrm>
            <a:off x="10062775" y="2820453"/>
            <a:ext cx="1713589" cy="1428446"/>
          </a:xfrm>
          <a:prstGeom prst="rect">
            <a:avLst/>
          </a:prstGeom>
        </p:spPr>
      </p:pic>
      <p:sp>
        <p:nvSpPr>
          <p:cNvPr id="43" name="page4-title-mask-page4_card_biomaterials.png"/>
          <p:cNvSpPr>
            <a:spLocks noGrp="1"/>
          </p:cNvSpPr>
          <p:nvPr/>
        </p:nvSpPr>
        <p:spPr>
          <a:xfrm>
            <a:off x="10110400" y="2887128"/>
            <a:ext cx="1618339" cy="437279"/>
          </a:xfrm>
          <a:prstGeom prst="rect">
            <a:avLst/>
          </a:prstGeom>
          <a:solidFill>
            <a:srgbClr val="061E2D">
              <a:alpha val="98000"/>
            </a:srgbClr>
          </a:solidFill>
          <a:ln w="0">
            <a:noFill/>
            <a:prstDash val="solid"/>
          </a:ln>
        </p:spPr>
      </p:sp>
      <p:sp>
        <p:nvSpPr>
          <p:cNvPr id="44" name="page4-editable-card-title-page4_card_biomaterials.png"/>
          <p:cNvSpPr>
            <a:spLocks noGrp="1"/>
          </p:cNvSpPr>
          <p:nvPr/>
        </p:nvSpPr>
        <p:spPr>
          <a:xfrm>
            <a:off x="10148500" y="2906178"/>
            <a:ext cx="1542139" cy="400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1575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生物材料学</a:t>
            </a:r>
            <a:endParaRPr sz="1575" b="1">
              <a:ln w="3810">
                <a:solidFill>
                  <a:srgbClr val="BFEFFF">
                    <a:alpha val="18000"/>
                  </a:srgbClr>
                </a:solidFill>
                <a:prstDash val="solid"/>
              </a:ln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pic>
        <p:nvPicPr>
          <p:cNvPr id="103" name="图片 102"/>
          <p:cNvPicPr>
            <a:picLocks noChangeAspect="1"/>
          </p:cNvPicPr>
          <p:nvPr/>
        </p:nvPicPr>
        <p:blipFill>
          <a:blip r:embed="rId16"/>
          <a:srcRect t="27" b="27"/>
          <a:stretch>
            <a:fillRect/>
          </a:stretch>
        </p:blipFill>
        <p:spPr>
          <a:xfrm>
            <a:off x="422928" y="4387371"/>
            <a:ext cx="1874010" cy="1399294"/>
          </a:xfrm>
          <a:prstGeom prst="rect">
            <a:avLst/>
          </a:prstGeom>
        </p:spPr>
      </p:pic>
      <p:sp>
        <p:nvSpPr>
          <p:cNvPr id="46" name="page4-title-mask-page4_card_medical_biology.png"/>
          <p:cNvSpPr>
            <a:spLocks noGrp="1"/>
          </p:cNvSpPr>
          <p:nvPr/>
        </p:nvSpPr>
        <p:spPr>
          <a:xfrm>
            <a:off x="470553" y="4454046"/>
            <a:ext cx="1778760" cy="451855"/>
          </a:xfrm>
          <a:prstGeom prst="rect">
            <a:avLst/>
          </a:prstGeom>
          <a:solidFill>
            <a:srgbClr val="211940">
              <a:alpha val="98000"/>
            </a:srgbClr>
          </a:solidFill>
          <a:ln w="0">
            <a:noFill/>
            <a:prstDash val="solid"/>
          </a:ln>
        </p:spPr>
      </p:sp>
      <p:sp>
        <p:nvSpPr>
          <p:cNvPr id="47" name="page4-editable-card-title-page4_card_medical_biology.png"/>
          <p:cNvSpPr>
            <a:spLocks noGrp="1"/>
          </p:cNvSpPr>
          <p:nvPr/>
        </p:nvSpPr>
        <p:spPr>
          <a:xfrm>
            <a:off x="508653" y="4473096"/>
            <a:ext cx="1702560" cy="4154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1875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75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医学生物</a:t>
            </a:r>
            <a:endParaRPr sz="1875" b="1">
              <a:ln w="3810">
                <a:solidFill>
                  <a:srgbClr val="BFEFFF">
                    <a:alpha val="18000"/>
                  </a:srgbClr>
                </a:solidFill>
                <a:prstDash val="solid"/>
              </a:ln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pic>
        <p:nvPicPr>
          <p:cNvPr id="106" name="图片 105"/>
          <p:cNvPicPr>
            <a:picLocks noChangeAspect="1"/>
          </p:cNvPicPr>
          <p:nvPr/>
        </p:nvPicPr>
        <p:blipFill>
          <a:blip r:embed="rId17"/>
          <a:srcRect t="27" b="27"/>
          <a:stretch>
            <a:fillRect/>
          </a:stretch>
        </p:blipFill>
        <p:spPr>
          <a:xfrm>
            <a:off x="2377148" y="4387371"/>
            <a:ext cx="2953206" cy="1399294"/>
          </a:xfrm>
          <a:prstGeom prst="rect">
            <a:avLst/>
          </a:prstGeom>
        </p:spPr>
      </p:pic>
      <p:sp>
        <p:nvSpPr>
          <p:cNvPr id="49" name="page4-title-mask-page4_card_anatomy.png"/>
          <p:cNvSpPr>
            <a:spLocks noGrp="1"/>
          </p:cNvSpPr>
          <p:nvPr/>
        </p:nvSpPr>
        <p:spPr>
          <a:xfrm>
            <a:off x="2424773" y="4454046"/>
            <a:ext cx="2857956" cy="451855"/>
          </a:xfrm>
          <a:prstGeom prst="rect">
            <a:avLst/>
          </a:prstGeom>
          <a:solidFill>
            <a:srgbClr val="10182F">
              <a:alpha val="98000"/>
            </a:srgbClr>
          </a:solidFill>
          <a:ln w="0">
            <a:noFill/>
            <a:prstDash val="solid"/>
          </a:ln>
        </p:spPr>
      </p:sp>
      <p:sp>
        <p:nvSpPr>
          <p:cNvPr id="50" name="page4-editable-card-title-page4_card_anatomy.png"/>
          <p:cNvSpPr>
            <a:spLocks noGrp="1"/>
          </p:cNvSpPr>
          <p:nvPr/>
        </p:nvSpPr>
        <p:spPr>
          <a:xfrm>
            <a:off x="2462873" y="4473096"/>
            <a:ext cx="2781756" cy="4154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1725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25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人体解剖学</a:t>
            </a:r>
            <a:endParaRPr sz="1725" b="1">
              <a:ln w="3810">
                <a:solidFill>
                  <a:srgbClr val="BFEFFF">
                    <a:alpha val="18000"/>
                  </a:srgbClr>
                </a:solidFill>
                <a:prstDash val="solid"/>
              </a:ln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pic>
        <p:nvPicPr>
          <p:cNvPr id="109" name="图片 108"/>
          <p:cNvPicPr>
            <a:picLocks noChangeAspect="1"/>
          </p:cNvPicPr>
          <p:nvPr/>
        </p:nvPicPr>
        <p:blipFill>
          <a:blip r:embed="rId18"/>
          <a:srcRect t="27" b="27"/>
          <a:stretch>
            <a:fillRect/>
          </a:stretch>
        </p:blipFill>
        <p:spPr>
          <a:xfrm>
            <a:off x="5403273" y="4387371"/>
            <a:ext cx="2814660" cy="1399294"/>
          </a:xfrm>
          <a:prstGeom prst="rect">
            <a:avLst/>
          </a:prstGeom>
        </p:spPr>
      </p:pic>
      <p:sp>
        <p:nvSpPr>
          <p:cNvPr id="52" name="page4-title-mask-page4_card_physiology.png"/>
          <p:cNvSpPr>
            <a:spLocks noGrp="1"/>
          </p:cNvSpPr>
          <p:nvPr/>
        </p:nvSpPr>
        <p:spPr>
          <a:xfrm>
            <a:off x="5450898" y="4454046"/>
            <a:ext cx="2719410" cy="451855"/>
          </a:xfrm>
          <a:prstGeom prst="rect">
            <a:avLst/>
          </a:prstGeom>
          <a:solidFill>
            <a:srgbClr val="13152F">
              <a:alpha val="98000"/>
            </a:srgbClr>
          </a:solidFill>
          <a:ln w="0">
            <a:noFill/>
            <a:prstDash val="solid"/>
          </a:ln>
        </p:spPr>
      </p:sp>
      <p:sp>
        <p:nvSpPr>
          <p:cNvPr id="53" name="page4-editable-card-title-page4_card_physiology.png"/>
          <p:cNvSpPr>
            <a:spLocks noGrp="1"/>
          </p:cNvSpPr>
          <p:nvPr/>
        </p:nvSpPr>
        <p:spPr>
          <a:xfrm>
            <a:off x="5488998" y="4473096"/>
            <a:ext cx="2643210" cy="4154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1725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25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生理学</a:t>
            </a:r>
            <a:endParaRPr sz="1725" b="1">
              <a:ln w="3810">
                <a:solidFill>
                  <a:srgbClr val="BFEFFF">
                    <a:alpha val="18000"/>
                  </a:srgbClr>
                </a:solidFill>
                <a:prstDash val="solid"/>
              </a:ln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pic>
        <p:nvPicPr>
          <p:cNvPr id="112" name="图片 111"/>
          <p:cNvPicPr>
            <a:picLocks noChangeAspect="1"/>
          </p:cNvPicPr>
          <p:nvPr/>
        </p:nvPicPr>
        <p:blipFill>
          <a:blip r:embed="rId19"/>
          <a:srcRect t="27" b="27"/>
          <a:stretch>
            <a:fillRect/>
          </a:stretch>
        </p:blipFill>
        <p:spPr>
          <a:xfrm>
            <a:off x="8290852" y="4387371"/>
            <a:ext cx="3485512" cy="1399294"/>
          </a:xfrm>
          <a:prstGeom prst="rect">
            <a:avLst/>
          </a:prstGeom>
        </p:spPr>
      </p:pic>
      <p:sp>
        <p:nvSpPr>
          <p:cNvPr id="55" name="page4-title-mask-page4_card_basic_medicine.png"/>
          <p:cNvSpPr>
            <a:spLocks noGrp="1"/>
          </p:cNvSpPr>
          <p:nvPr/>
        </p:nvSpPr>
        <p:spPr>
          <a:xfrm>
            <a:off x="8338477" y="4454046"/>
            <a:ext cx="3390262" cy="451855"/>
          </a:xfrm>
          <a:prstGeom prst="rect">
            <a:avLst/>
          </a:prstGeom>
          <a:solidFill>
            <a:srgbClr val="15152E">
              <a:alpha val="98000"/>
            </a:srgbClr>
          </a:solidFill>
          <a:ln w="0">
            <a:noFill/>
            <a:prstDash val="solid"/>
          </a:ln>
        </p:spPr>
      </p:sp>
      <p:sp>
        <p:nvSpPr>
          <p:cNvPr id="56" name="page4-editable-card-title-page4_card_basic_medicine.png"/>
          <p:cNvSpPr>
            <a:spLocks noGrp="1"/>
          </p:cNvSpPr>
          <p:nvPr/>
        </p:nvSpPr>
        <p:spPr>
          <a:xfrm>
            <a:off x="8376577" y="4473096"/>
            <a:ext cx="3314062" cy="4154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1725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25" b="1">
                <a:ln w="3810">
                  <a:solidFill>
                    <a:srgbClr val="BFEFFF">
                      <a:alpha val="18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基础医学</a:t>
            </a:r>
            <a:endParaRPr sz="1725" b="1">
              <a:ln w="3810">
                <a:solidFill>
                  <a:srgbClr val="BFEFFF">
                    <a:alpha val="18000"/>
                  </a:srgbClr>
                </a:solidFill>
                <a:prstDash val="solid"/>
              </a:ln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7" name="page4-quote-mask"/>
          <p:cNvSpPr>
            <a:spLocks noGrp="1"/>
          </p:cNvSpPr>
          <p:nvPr/>
        </p:nvSpPr>
        <p:spPr>
          <a:xfrm>
            <a:off x="2647950" y="5886450"/>
            <a:ext cx="6905625" cy="619125"/>
          </a:xfrm>
          <a:prstGeom prst="rect">
            <a:avLst/>
          </a:prstGeom>
          <a:solidFill>
            <a:srgbClr val="03101F">
              <a:alpha val="98000"/>
            </a:srgbClr>
          </a:solidFill>
          <a:ln w="0">
            <a:noFill/>
            <a:prstDash val="solid"/>
          </a:ln>
        </p:spPr>
      </p:sp>
      <p:sp>
        <p:nvSpPr>
          <p:cNvPr id="58" name="page4-editable-conclusion"/>
          <p:cNvSpPr>
            <a:spLocks noGrp="1"/>
          </p:cNvSpPr>
          <p:nvPr/>
        </p:nvSpPr>
        <p:spPr>
          <a:xfrm>
            <a:off x="2857500" y="5924550"/>
            <a:ext cx="6572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400" b="1" i="1">
                <a:solidFill>
                  <a:srgbClr val="65D8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400" b="1" i="1">
                <a:gradFill>
                  <a:gsLst>
                    <a:gs pos="0">
                      <a:srgbClr val="48D8FF"/>
                    </a:gs>
                    <a:gs pos="50000">
                      <a:srgbClr val="8C78FF"/>
                    </a:gs>
                    <a:gs pos="100000">
                      <a:srgbClr val="FF64B4"/>
                    </a:gs>
                  </a:gsLst>
                  <a:lin ang="0"/>
                </a:gra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既要懂工程，也要理解人体与临床需求</a:t>
            </a:r>
            <a:endParaRPr sz="2400" b="1" i="1">
              <a:gradFill>
                <a:gsLst>
                  <a:gs pos="0">
                    <a:srgbClr val="48D8FF"/>
                  </a:gs>
                  <a:gs pos="50000">
                    <a:srgbClr val="8C78FF"/>
                  </a:gs>
                  <a:gs pos="100000">
                    <a:srgbClr val="FF64B4"/>
                  </a:gs>
                </a:gsLst>
                <a:lin ang="0"/>
              </a:gra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</Words>
  <Application>WPS 演示</Application>
  <PresentationFormat>Converted Presentation</PresentationFormat>
  <Paragraphs>39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宋体</vt:lpstr>
      <vt:lpstr>Wingdings</vt:lpstr>
      <vt:lpstr>Microsoft YaHei UI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HanYu</cp:lastModifiedBy>
  <cp:revision>1</cp:revision>
  <dcterms:created xsi:type="dcterms:W3CDTF">2026-08-09T12:13:10Z</dcterms:created>
  <dcterms:modified xsi:type="dcterms:W3CDTF">2026-08-09T12:13:10Z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8E7B9F17EAC94F15AE1C07A63FBA7AB9_12</vt:lpwstr>
  </property>
  <property fmtid="{D5CDD505-2E9C-101B-9397-08002B2CF9AE}" pid="3" name="KSOProductBuildVer">
    <vt:lpwstr>2052-12.1.0.28022</vt:lpwstr>
  </property>
</Properties>
</file>