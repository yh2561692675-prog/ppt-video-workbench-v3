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26" b="26"/>
          <a:stretch>
            <a:fillRect/>
          </a:stretch>
        </p:blipFill>
        <p:spPr>
          <a:xfrm>
            <a:off x="0" y="1268730"/>
            <a:ext cx="12192000" cy="4810125"/>
          </a:xfrm>
          <a:prstGeom prst="rect">
            <a:avLst/>
          </a:prstGeom>
        </p:spPr>
      </p:pic>
      <p:sp>
        <p:nvSpPr>
          <p:cNvPr id="2" name="page02-title-editable"/>
          <p:cNvSpPr>
            <a:spLocks noGrp="1"/>
          </p:cNvSpPr>
          <p:nvPr/>
        </p:nvSpPr>
        <p:spPr>
          <a:xfrm>
            <a:off x="876300" y="323850"/>
            <a:ext cx="1047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36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6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22个专业看似分散，本质可归入五条技术路线</a:t>
            </a:r>
            <a:endParaRPr sz="36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3" name="page02-top-rule"/>
          <p:cNvSpPr>
            <a:spLocks noGrp="1"/>
          </p:cNvSpPr>
          <p:nvPr/>
        </p:nvSpPr>
        <p:spPr>
          <a:xfrm>
            <a:off x="552450" y="1123950"/>
            <a:ext cx="11087100" cy="9525"/>
          </a:xfrm>
          <a:prstGeom prst="rect">
            <a:avLst/>
          </a:prstGeom>
          <a:solidFill>
            <a:srgbClr val="9CA6AD"/>
          </a:solidFill>
          <a:ln w="0">
            <a:solidFill>
              <a:srgbClr val="9CA6AD"/>
            </a:solidFill>
            <a:prstDash val="solid"/>
          </a:ln>
        </p:spPr>
      </p:sp>
      <p:sp>
        <p:nvSpPr>
          <p:cNvPr id="4" name="page02-title-accent"/>
          <p:cNvSpPr>
            <a:spLocks noGrp="1"/>
          </p:cNvSpPr>
          <p:nvPr/>
        </p:nvSpPr>
        <p:spPr>
          <a:xfrm>
            <a:off x="5715000" y="1114425"/>
            <a:ext cx="1200150" cy="38100"/>
          </a:xfrm>
          <a:prstGeom prst="rect">
            <a:avLst/>
          </a:prstGeom>
          <a:solidFill>
            <a:srgbClr val="BD5B1E"/>
          </a:solidFill>
          <a:ln w="0">
            <a:solidFill>
              <a:srgbClr val="BD5B1E"/>
            </a:solidFill>
            <a:prstDash val="solid"/>
          </a:ln>
        </p:spPr>
      </p:sp>
      <p:sp>
        <p:nvSpPr>
          <p:cNvPr id="5" name="page02-electronics-paper-cover"/>
          <p:cNvSpPr>
            <a:spLocks noGrp="1"/>
          </p:cNvSpPr>
          <p:nvPr/>
        </p:nvSpPr>
        <p:spPr>
          <a:xfrm>
            <a:off x="590550" y="1676400"/>
            <a:ext cx="2076450" cy="542925"/>
          </a:xfrm>
          <a:prstGeom prst="rect">
            <a:avLst/>
          </a:prstGeom>
          <a:solidFill>
            <a:srgbClr val="F6EFDF"/>
          </a:solidFill>
          <a:ln w="0">
            <a:noFill/>
            <a:prstDash val="solid"/>
          </a:ln>
        </p:spPr>
      </p:sp>
      <p:sp>
        <p:nvSpPr>
          <p:cNvPr id="6" name="page02-electronics-editable"/>
          <p:cNvSpPr>
            <a:spLocks noGrp="1"/>
          </p:cNvSpPr>
          <p:nvPr/>
        </p:nvSpPr>
        <p:spPr>
          <a:xfrm>
            <a:off x="704850" y="1714500"/>
            <a:ext cx="1847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61"/>
          </a:bodyPr>
          <a:lstStyle/>
          <a:p>
            <a:pPr>
              <a:buNone/>
              <a:def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电子器件</a:t>
            </a:r>
            <a:endParaRPr sz="30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7" name="page02-electronics-accent-line"/>
          <p:cNvSpPr>
            <a:spLocks noGrp="1"/>
          </p:cNvSpPr>
          <p:nvPr/>
        </p:nvSpPr>
        <p:spPr>
          <a:xfrm>
            <a:off x="704850" y="2190750"/>
            <a:ext cx="361950" cy="19050"/>
          </a:xfrm>
          <a:prstGeom prst="rect">
            <a:avLst/>
          </a:prstGeom>
          <a:solidFill>
            <a:srgbClr val="BD5B1E"/>
          </a:solidFill>
          <a:ln w="0">
            <a:solidFill>
              <a:srgbClr val="BD5B1E"/>
            </a:solidFill>
            <a:prstDash val="solid"/>
          </a:ln>
        </p:spPr>
      </p:sp>
      <p:sp>
        <p:nvSpPr>
          <p:cNvPr id="8" name="page02-electronics-anchor-dot"/>
          <p:cNvSpPr>
            <a:spLocks noGrp="1"/>
          </p:cNvSpPr>
          <p:nvPr/>
        </p:nvSpPr>
        <p:spPr>
          <a:xfrm>
            <a:off x="2486025" y="2162175"/>
            <a:ext cx="66675" cy="66675"/>
          </a:xfrm>
          <a:prstGeom prst="ellipse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9" name="page02-opto-paper-cover"/>
          <p:cNvSpPr>
            <a:spLocks noGrp="1"/>
          </p:cNvSpPr>
          <p:nvPr/>
        </p:nvSpPr>
        <p:spPr>
          <a:xfrm>
            <a:off x="552450" y="3752850"/>
            <a:ext cx="2038350" cy="542925"/>
          </a:xfrm>
          <a:prstGeom prst="rect">
            <a:avLst/>
          </a:prstGeom>
          <a:solidFill>
            <a:srgbClr val="F6EFDF"/>
          </a:solidFill>
          <a:ln w="0">
            <a:noFill/>
            <a:prstDash val="solid"/>
          </a:ln>
        </p:spPr>
      </p:sp>
      <p:sp>
        <p:nvSpPr>
          <p:cNvPr id="10" name="page02-opto-editable"/>
          <p:cNvSpPr>
            <a:spLocks noGrp="1"/>
          </p:cNvSpPr>
          <p:nvPr/>
        </p:nvSpPr>
        <p:spPr>
          <a:xfrm>
            <a:off x="666750" y="37909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61"/>
          </a:bodyPr>
          <a:lstStyle/>
          <a:p>
            <a:pPr>
              <a:buNone/>
              <a:def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光电技术</a:t>
            </a:r>
            <a:endParaRPr sz="30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1" name="page02-opto-accent-line"/>
          <p:cNvSpPr>
            <a:spLocks noGrp="1"/>
          </p:cNvSpPr>
          <p:nvPr/>
        </p:nvSpPr>
        <p:spPr>
          <a:xfrm>
            <a:off x="666750" y="4267200"/>
            <a:ext cx="361950" cy="19050"/>
          </a:xfrm>
          <a:prstGeom prst="rect">
            <a:avLst/>
          </a:prstGeom>
          <a:solidFill>
            <a:srgbClr val="BD5B1E"/>
          </a:solidFill>
          <a:ln w="0">
            <a:solidFill>
              <a:srgbClr val="BD5B1E"/>
            </a:solidFill>
            <a:prstDash val="solid"/>
          </a:ln>
        </p:spPr>
      </p:sp>
      <p:sp>
        <p:nvSpPr>
          <p:cNvPr id="12" name="page02-opto-anchor-dot"/>
          <p:cNvSpPr>
            <a:spLocks noGrp="1"/>
          </p:cNvSpPr>
          <p:nvPr/>
        </p:nvSpPr>
        <p:spPr>
          <a:xfrm>
            <a:off x="2409825" y="4238625"/>
            <a:ext cx="66675" cy="66675"/>
          </a:xfrm>
          <a:prstGeom prst="ellipse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13" name="page02-signal-paper-cover"/>
          <p:cNvSpPr>
            <a:spLocks noGrp="1"/>
          </p:cNvSpPr>
          <p:nvPr/>
        </p:nvSpPr>
        <p:spPr>
          <a:xfrm>
            <a:off x="9886950" y="1676400"/>
            <a:ext cx="1943100" cy="542925"/>
          </a:xfrm>
          <a:prstGeom prst="rect">
            <a:avLst/>
          </a:prstGeom>
          <a:solidFill>
            <a:srgbClr val="F6EFDF"/>
          </a:solidFill>
          <a:ln w="0">
            <a:noFill/>
            <a:prstDash val="solid"/>
          </a:ln>
        </p:spPr>
      </p:sp>
      <p:sp>
        <p:nvSpPr>
          <p:cNvPr id="14" name="page02-signal-editable"/>
          <p:cNvSpPr>
            <a:spLocks noGrp="1"/>
          </p:cNvSpPr>
          <p:nvPr/>
        </p:nvSpPr>
        <p:spPr>
          <a:xfrm>
            <a:off x="10001250" y="17145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61"/>
          </a:bodyPr>
          <a:lstStyle/>
          <a:p>
            <a:pPr>
              <a:buNone/>
              <a:def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通信信号</a:t>
            </a:r>
            <a:endParaRPr sz="30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5" name="page02-signal-accent-line"/>
          <p:cNvSpPr>
            <a:spLocks noGrp="1"/>
          </p:cNvSpPr>
          <p:nvPr/>
        </p:nvSpPr>
        <p:spPr>
          <a:xfrm>
            <a:off x="11353800" y="2190750"/>
            <a:ext cx="361950" cy="19050"/>
          </a:xfrm>
          <a:prstGeom prst="rect">
            <a:avLst/>
          </a:prstGeom>
          <a:solidFill>
            <a:srgbClr val="BD5B1E"/>
          </a:solidFill>
          <a:ln w="0">
            <a:solidFill>
              <a:srgbClr val="BD5B1E"/>
            </a:solidFill>
            <a:prstDash val="solid"/>
          </a:ln>
        </p:spPr>
      </p:sp>
      <p:sp>
        <p:nvSpPr>
          <p:cNvPr id="16" name="page02-signal-anchor-dot"/>
          <p:cNvSpPr>
            <a:spLocks noGrp="1"/>
          </p:cNvSpPr>
          <p:nvPr/>
        </p:nvSpPr>
        <p:spPr>
          <a:xfrm>
            <a:off x="9934575" y="2162175"/>
            <a:ext cx="66675" cy="66675"/>
          </a:xfrm>
          <a:prstGeom prst="ellipse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17" name="page02-cross-paper-cover"/>
          <p:cNvSpPr>
            <a:spLocks noGrp="1"/>
          </p:cNvSpPr>
          <p:nvPr/>
        </p:nvSpPr>
        <p:spPr>
          <a:xfrm>
            <a:off x="10077450" y="3752850"/>
            <a:ext cx="1943100" cy="542925"/>
          </a:xfrm>
          <a:prstGeom prst="rect">
            <a:avLst/>
          </a:prstGeom>
          <a:solidFill>
            <a:srgbClr val="F6EFDF"/>
          </a:solidFill>
          <a:ln w="0">
            <a:noFill/>
            <a:prstDash val="solid"/>
          </a:ln>
        </p:spPr>
      </p:sp>
      <p:sp>
        <p:nvSpPr>
          <p:cNvPr id="18" name="page02-cross-editable"/>
          <p:cNvSpPr>
            <a:spLocks noGrp="1"/>
          </p:cNvSpPr>
          <p:nvPr/>
        </p:nvSpPr>
        <p:spPr>
          <a:xfrm>
            <a:off x="10191750" y="37909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61"/>
          </a:bodyPr>
          <a:lstStyle/>
          <a:p>
            <a:pPr>
              <a:buNone/>
              <a:def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交叉应用</a:t>
            </a:r>
            <a:endParaRPr sz="30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9" name="page02-cross-accent-line"/>
          <p:cNvSpPr>
            <a:spLocks noGrp="1"/>
          </p:cNvSpPr>
          <p:nvPr/>
        </p:nvSpPr>
        <p:spPr>
          <a:xfrm>
            <a:off x="11544300" y="4267200"/>
            <a:ext cx="361950" cy="19050"/>
          </a:xfrm>
          <a:prstGeom prst="rect">
            <a:avLst/>
          </a:prstGeom>
          <a:solidFill>
            <a:srgbClr val="BD5B1E"/>
          </a:solidFill>
          <a:ln w="0">
            <a:solidFill>
              <a:srgbClr val="BD5B1E"/>
            </a:solidFill>
            <a:prstDash val="solid"/>
          </a:ln>
        </p:spPr>
      </p:sp>
      <p:sp>
        <p:nvSpPr>
          <p:cNvPr id="20" name="page02-cross-anchor-dot"/>
          <p:cNvSpPr>
            <a:spLocks noGrp="1"/>
          </p:cNvSpPr>
          <p:nvPr/>
        </p:nvSpPr>
        <p:spPr>
          <a:xfrm>
            <a:off x="10125075" y="4238625"/>
            <a:ext cx="66675" cy="66675"/>
          </a:xfrm>
          <a:prstGeom prst="ellipse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21" name="page02-frontier-paper-cover"/>
          <p:cNvSpPr>
            <a:spLocks noGrp="1"/>
          </p:cNvSpPr>
          <p:nvPr/>
        </p:nvSpPr>
        <p:spPr>
          <a:xfrm>
            <a:off x="7981950" y="5229225"/>
            <a:ext cx="1990725" cy="542925"/>
          </a:xfrm>
          <a:prstGeom prst="rect">
            <a:avLst/>
          </a:prstGeom>
          <a:solidFill>
            <a:srgbClr val="F6EFDF"/>
          </a:solidFill>
          <a:ln w="0">
            <a:noFill/>
            <a:prstDash val="solid"/>
          </a:ln>
        </p:spPr>
      </p:sp>
      <p:sp>
        <p:nvSpPr>
          <p:cNvPr id="22" name="page02-frontier-editable"/>
          <p:cNvSpPr>
            <a:spLocks noGrp="1"/>
          </p:cNvSpPr>
          <p:nvPr/>
        </p:nvSpPr>
        <p:spPr>
          <a:xfrm>
            <a:off x="8096250" y="5267325"/>
            <a:ext cx="1762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561"/>
          </a:bodyPr>
          <a:lstStyle/>
          <a:p>
            <a:pPr>
              <a:buNone/>
              <a:def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30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特色前沿</a:t>
            </a:r>
            <a:endParaRPr sz="30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3" name="page02-frontier-accent-line"/>
          <p:cNvSpPr>
            <a:spLocks noGrp="1"/>
          </p:cNvSpPr>
          <p:nvPr/>
        </p:nvSpPr>
        <p:spPr>
          <a:xfrm>
            <a:off x="9496425" y="5743575"/>
            <a:ext cx="361950" cy="19050"/>
          </a:xfrm>
          <a:prstGeom prst="rect">
            <a:avLst/>
          </a:prstGeom>
          <a:solidFill>
            <a:srgbClr val="BD5B1E"/>
          </a:solidFill>
          <a:ln w="0">
            <a:solidFill>
              <a:srgbClr val="BD5B1E"/>
            </a:solidFill>
            <a:prstDash val="solid"/>
          </a:ln>
        </p:spPr>
      </p:sp>
      <p:sp>
        <p:nvSpPr>
          <p:cNvPr id="24" name="page02-frontier-anchor-dot"/>
          <p:cNvSpPr>
            <a:spLocks noGrp="1"/>
          </p:cNvSpPr>
          <p:nvPr/>
        </p:nvSpPr>
        <p:spPr>
          <a:xfrm>
            <a:off x="8029575" y="5715000"/>
            <a:ext cx="66675" cy="66675"/>
          </a:xfrm>
          <a:prstGeom prst="ellipse">
            <a:avLst/>
          </a:prstGeom>
          <a:solidFill>
            <a:srgbClr val="061A3D"/>
          </a:solidFill>
          <a:ln w="0">
            <a:solidFill>
              <a:srgbClr val="061A3D"/>
            </a:solidFill>
            <a:prstDash val="solid"/>
          </a:ln>
        </p:spPr>
      </p:sp>
      <p:sp>
        <p:nvSpPr>
          <p:cNvPr id="25" name="page02-bottom-rule"/>
          <p:cNvSpPr>
            <a:spLocks noGrp="1"/>
          </p:cNvSpPr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9CA6AD"/>
          </a:solidFill>
          <a:ln w="0">
            <a:solidFill>
              <a:srgbClr val="9CA6AD"/>
            </a:solidFill>
            <a:prstDash val="solid"/>
          </a:ln>
        </p:spPr>
      </p:sp>
      <p:sp>
        <p:nvSpPr>
          <p:cNvPr id="26" name="page02-footer-editable"/>
          <p:cNvSpPr>
            <a:spLocks noGrp="1"/>
          </p:cNvSpPr>
          <p:nvPr/>
        </p:nvSpPr>
        <p:spPr>
          <a:xfrm>
            <a:off x="3486150" y="6360795"/>
            <a:ext cx="523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2325" b="1">
                <a:solidFill>
                  <a:srgbClr val="BD5B1E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2325" b="1">
                <a:solidFill>
                  <a:srgbClr val="BD5B1E"/>
                </a:solidFill>
                <a:latin typeface="Source Han Serif SC"/>
                <a:ea typeface="Source Han Serif SC"/>
                <a:cs typeface="Source Han Serif SC"/>
              </a:rPr>
              <a:t>先辨认研究对象，再理解专业名称。</a:t>
            </a:r>
            <a:endParaRPr sz="2325" b="1">
              <a:solidFill>
                <a:srgbClr val="BD5B1E"/>
              </a:solidFill>
              <a:latin typeface="Source Han Serif SC"/>
              <a:ea typeface="Source Han Serif SC"/>
              <a:cs typeface="Source Han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Converted Presentation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Source Han Serif SC</vt:lpstr>
      <vt:lpstr>Source Han Serif SC Heavy</vt:lpstr>
      <vt:lpstr>Noto Sans CJK SC</vt:lpstr>
      <vt:lpstr>Noto Serif SC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29</cp:revision>
  <dcterms:created xsi:type="dcterms:W3CDTF">2026-08-05T13:03:00Z</dcterms:created>
  <dcterms:modified xsi:type="dcterms:W3CDTF">2026-08-09T12:12:01Z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1CC454ED494E43189ACE5A82EF595F8B_13</vt:lpwstr>
  </property>
</Properties>
</file>