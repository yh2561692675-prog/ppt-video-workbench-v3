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</p:sldIdLst>
  <p:sldSz cx="15925800" cy="896302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2" name="editable-slide6-title"/>
          <p:cNvSpPr>
            <a:spLocks noGrp="1"/>
          </p:cNvSpPr>
          <p:nvPr/>
        </p:nvSpPr>
        <p:spPr>
          <a:xfrm>
            <a:off x="3381375" y="400050"/>
            <a:ext cx="9334500" cy="7429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40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40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升学去向：从仪器出发，向多学科延展</a:t>
            </a:r>
            <a:endParaRPr sz="4050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" name="editable-slide6-root"/>
          <p:cNvSpPr>
            <a:spLocks noGrp="1"/>
          </p:cNvSpPr>
          <p:nvPr/>
        </p:nvSpPr>
        <p:spPr>
          <a:xfrm>
            <a:off x="1924050" y="4191000"/>
            <a:ext cx="1190625" cy="10668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仪器类</a:t>
            </a:r>
            <a:endParaRPr sz="27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本科</a:t>
            </a:r>
            <a:endParaRPr sz="27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editable-grad-dir1-title"/>
          <p:cNvSpPr>
            <a:spLocks noGrp="1"/>
          </p:cNvSpPr>
          <p:nvPr/>
        </p:nvSpPr>
        <p:spPr>
          <a:xfrm>
            <a:off x="7029450" y="1828800"/>
            <a:ext cx="409575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087F9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87F9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方向一：仪器科学与技术</a:t>
            </a:r>
            <a:endParaRPr sz="2550" b="1">
              <a:solidFill>
                <a:srgbClr val="087F9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editable-grad-dir1-body"/>
          <p:cNvSpPr>
            <a:spLocks noGrp="1"/>
          </p:cNvSpPr>
          <p:nvPr/>
        </p:nvSpPr>
        <p:spPr>
          <a:xfrm>
            <a:off x="7048500" y="2352675"/>
            <a:ext cx="4095750" cy="5905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精通光学、测量等仪器仪表，</a:t>
            </a:r>
            <a:endParaRPr sz="16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测试计量技术及仪器</a:t>
            </a:r>
            <a:endParaRPr sz="16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editable-grad-dir2-title"/>
          <p:cNvSpPr>
            <a:spLocks noGrp="1"/>
          </p:cNvSpPr>
          <p:nvPr/>
        </p:nvSpPr>
        <p:spPr>
          <a:xfrm>
            <a:off x="7029450" y="3476625"/>
            <a:ext cx="504825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155E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55E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方向二：电子信息 / 控制工程</a:t>
            </a:r>
            <a:endParaRPr sz="2550" b="1">
              <a:solidFill>
                <a:srgbClr val="155ED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editable-grad-dir2-body"/>
          <p:cNvSpPr>
            <a:spLocks noGrp="1"/>
          </p:cNvSpPr>
          <p:nvPr/>
        </p:nvSpPr>
        <p:spPr>
          <a:xfrm>
            <a:off x="7048500" y="4000500"/>
            <a:ext cx="5143500" cy="5905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涵盖信号处理、控制理论与工程、</a:t>
            </a:r>
            <a:endParaRPr sz="16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模式识别与智能系统等</a:t>
            </a:r>
            <a:endParaRPr sz="16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editable-grad-dir3-title"/>
          <p:cNvSpPr>
            <a:spLocks noGrp="1"/>
          </p:cNvSpPr>
          <p:nvPr/>
        </p:nvSpPr>
        <p:spPr>
          <a:xfrm>
            <a:off x="7029450" y="5124450"/>
            <a:ext cx="5572125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725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00" b="1">
                <a:solidFill>
                  <a:srgbClr val="7256C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方向三：光学工程 / 生物医学工程</a:t>
            </a:r>
            <a:endParaRPr sz="2400" b="1">
              <a:solidFill>
                <a:srgbClr val="7256C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editable-grad-dir3-body"/>
          <p:cNvSpPr>
            <a:spLocks noGrp="1"/>
          </p:cNvSpPr>
          <p:nvPr/>
        </p:nvSpPr>
        <p:spPr>
          <a:xfrm>
            <a:off x="7048500" y="5657850"/>
            <a:ext cx="3905250" cy="5905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光学工程、激光技术、</a:t>
            </a:r>
            <a:endParaRPr sz="16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生物医学工程等</a:t>
            </a:r>
            <a:endParaRPr sz="16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editable-grad-dir4-title"/>
          <p:cNvSpPr>
            <a:spLocks noGrp="1"/>
          </p:cNvSpPr>
          <p:nvPr/>
        </p:nvSpPr>
        <p:spPr>
          <a:xfrm>
            <a:off x="7029450" y="6781800"/>
            <a:ext cx="495300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E47A1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E47A10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方向四：人工智能与计算机</a:t>
            </a:r>
            <a:endParaRPr sz="2550" b="1">
              <a:solidFill>
                <a:srgbClr val="E47A10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editable-grad-dir4-body"/>
          <p:cNvSpPr>
            <a:spLocks noGrp="1"/>
          </p:cNvSpPr>
          <p:nvPr/>
        </p:nvSpPr>
        <p:spPr>
          <a:xfrm>
            <a:off x="7048500" y="7315200"/>
            <a:ext cx="3905250" cy="5905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5000"/>
              </a:lnSpc>
              <a:buNone/>
              <a:def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机器学习、计算机视觉、</a:t>
            </a:r>
            <a:endParaRPr sz="16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65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数据科学等</a:t>
            </a:r>
            <a:endParaRPr sz="165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editable-grad-tip"/>
          <p:cNvSpPr>
            <a:spLocks noGrp="1"/>
          </p:cNvSpPr>
          <p:nvPr/>
        </p:nvSpPr>
        <p:spPr>
          <a:xfrm>
            <a:off x="12630150" y="6705600"/>
            <a:ext cx="2209800" cy="13335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D83A1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D83A1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提示：</a:t>
            </a:r>
            <a:endParaRPr sz="1575" b="1">
              <a:solidFill>
                <a:srgbClr val="D83A1E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575" b="1">
                <a:solidFill>
                  <a:srgbClr val="D83A1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D83A1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转向AI与计算机方向，</a:t>
            </a:r>
            <a:endParaRPr sz="1575" b="1">
              <a:solidFill>
                <a:srgbClr val="D83A1E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575" b="1">
                <a:solidFill>
                  <a:srgbClr val="D83A1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D83A1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需要补强数据结构、</a:t>
            </a:r>
            <a:endParaRPr sz="1575" b="1">
              <a:solidFill>
                <a:srgbClr val="D83A1E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1575" b="1">
                <a:solidFill>
                  <a:srgbClr val="D83A1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575" b="1">
                <a:solidFill>
                  <a:srgbClr val="D83A1E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算法和计算机基础。</a:t>
            </a:r>
            <a:endParaRPr sz="1575" b="1">
              <a:solidFill>
                <a:srgbClr val="D83A1E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WPS 演示</Application>
  <PresentationFormat>Converted Presentation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2026-08-09T12:13:50Z</dcterms:created>
  <dcterms:modified xsi:type="dcterms:W3CDTF">2026-08-09T12:13:50Z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613BDA8BA8E04EE39F694FCC421D0276_12</vt:lpwstr>
  </property>
  <property fmtid="{D5CDD505-2E9C-101B-9397-08002B2CF9AE}" pid="3" name="KSOProductBuildVer">
    <vt:lpwstr>2052-12.1.0.28022</vt:lpwstr>
  </property>
</Properties>
</file>