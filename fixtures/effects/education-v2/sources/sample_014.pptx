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8" r:id="rId3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3" Type="http://schemas.openxmlformats.org/officeDocument/2006/relationships/notesSlide" Target="../notesSlides/notesSlide1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208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1" name="page3-bg-deep-space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20711"/>
              </a:gs>
              <a:gs pos="55000">
                <a:srgbClr val="06172B"/>
              </a:gs>
              <a:gs pos="100000">
                <a:srgbClr val="020916"/>
              </a:gs>
            </a:gsLst>
            <a:lin ang="10800000"/>
          </a:gradFill>
          <a:ln w="0">
            <a:noFill/>
            <a:prstDash val="solid"/>
          </a:ln>
        </p:spPr>
      </p:sp>
      <p:sp>
        <p:nvSpPr>
          <p:cNvPr id="2" name="page3-top-soft-glow"/>
          <p:cNvSpPr>
            <a:spLocks noGrp="1"/>
          </p:cNvSpPr>
          <p:nvPr/>
        </p:nvSpPr>
        <p:spPr>
          <a:xfrm>
            <a:off x="1428750" y="809625"/>
            <a:ext cx="9429750" cy="3619500"/>
          </a:xfrm>
          <a:prstGeom prst="rect">
            <a:avLst/>
          </a:prstGeom>
          <a:gradFill>
            <a:gsLst>
              <a:gs pos="0">
                <a:srgbClr val="0B6BCF">
                  <a:alpha val="18000"/>
                </a:srgbClr>
              </a:gs>
              <a:gs pos="46000">
                <a:srgbClr val="063265">
                  <a:alpha val="12000"/>
                </a:srgbClr>
              </a:gs>
              <a:gs pos="100000">
                <a:srgbClr val="020816">
                  <a:alpha val="0"/>
                </a:srgbClr>
              </a:gs>
            </a:gsLst>
            <a:path path="shape"/>
          </a:gradFill>
          <a:ln w="0">
            <a:noFill/>
            <a:prstDash val="solid"/>
          </a:ln>
        </p:spPr>
      </p:sp>
      <p:pic>
        <p:nvPicPr>
          <p:cNvPr id="43" name="图片 42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5976153"/>
            <a:ext cx="12192000" cy="881847"/>
          </a:xfrm>
          <a:prstGeom prst="rect">
            <a:avLst/>
          </a:prstGeom>
        </p:spPr>
      </p:pic>
      <p:sp>
        <p:nvSpPr>
          <p:cNvPr id="4" name="page3-title-accent"/>
          <p:cNvSpPr>
            <a:spLocks noGrp="1"/>
          </p:cNvSpPr>
          <p:nvPr/>
        </p:nvSpPr>
        <p:spPr>
          <a:xfrm>
            <a:off x="276225" y="304800"/>
            <a:ext cx="57150" cy="371475"/>
          </a:xfrm>
          <a:prstGeom prst="rect">
            <a:avLst/>
          </a:prstGeom>
          <a:gradFill>
            <a:gsLst>
              <a:gs pos="0">
                <a:srgbClr val="18C8FF"/>
              </a:gs>
              <a:gs pos="100000">
                <a:srgbClr val="6A72FF"/>
              </a:gs>
            </a:gsLst>
            <a:lin ang="5400000"/>
          </a:gradFill>
          <a:ln w="0">
            <a:noFill/>
            <a:prstDash val="solid"/>
          </a:ln>
        </p:spPr>
      </p:sp>
      <p:sp>
        <p:nvSpPr>
          <p:cNvPr id="5" name="page3-editable-title"/>
          <p:cNvSpPr>
            <a:spLocks noGrp="1"/>
          </p:cNvSpPr>
          <p:nvPr/>
        </p:nvSpPr>
        <p:spPr>
          <a:xfrm>
            <a:off x="476250" y="285750"/>
            <a:ext cx="1619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2475" b="1">
                <a:ln w="4763">
                  <a:solidFill>
                    <a:srgbClr val="C4EFFF">
                      <a:alpha val="25000"/>
                    </a:srgbClr>
                  </a:solidFill>
                  <a:prstDash val="solid"/>
                </a:ln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475" b="1">
                <a:ln w="4763">
                  <a:solidFill>
                    <a:srgbClr val="C4EFFF">
                      <a:alpha val="25000"/>
                    </a:srgbClr>
                  </a:solidFill>
                  <a:prstDash val="solid"/>
                </a:ln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专业方向</a:t>
            </a:r>
            <a:endParaRPr sz="2475" b="1">
              <a:ln w="4763">
                <a:solidFill>
                  <a:srgbClr val="C4EFFF">
                    <a:alpha val="25000"/>
                  </a:srgbClr>
                </a:solidFill>
                <a:prstDash val="solid"/>
              </a:ln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pic>
        <p:nvPicPr>
          <p:cNvPr id="46" name="图片 45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408344" y="976591"/>
            <a:ext cx="2216727" cy="3388916"/>
          </a:xfrm>
          <a:prstGeom prst="rect">
            <a:avLst/>
          </a:prstGeom>
        </p:spPr>
      </p:pic>
      <p:sp>
        <p:nvSpPr>
          <p:cNvPr id="7" name="page3-card-title-mask-page3_card_bme_soft.png"/>
          <p:cNvSpPr>
            <a:spLocks noGrp="1"/>
          </p:cNvSpPr>
          <p:nvPr/>
        </p:nvSpPr>
        <p:spPr>
          <a:xfrm>
            <a:off x="541694" y="1148041"/>
            <a:ext cx="1950027" cy="533400"/>
          </a:xfrm>
          <a:prstGeom prst="rect">
            <a:avLst/>
          </a:prstGeom>
          <a:solidFill>
            <a:srgbClr val="072548">
              <a:alpha val="96000"/>
            </a:srgbClr>
          </a:solidFill>
          <a:ln w="0">
            <a:noFill/>
            <a:prstDash val="solid"/>
          </a:ln>
        </p:spPr>
      </p:sp>
      <p:sp>
        <p:nvSpPr>
          <p:cNvPr id="8" name="page3-editable-card-title-page3_card_bme_soft.png"/>
          <p:cNvSpPr>
            <a:spLocks noGrp="1"/>
          </p:cNvSpPr>
          <p:nvPr/>
        </p:nvSpPr>
        <p:spPr>
          <a:xfrm>
            <a:off x="570269" y="1167091"/>
            <a:ext cx="1892877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800" b="1">
                <a:ln w="4286">
                  <a:solidFill>
                    <a:srgbClr val="18C8FF">
                      <a:alpha val="22000"/>
                    </a:srgbClr>
                  </a:solidFill>
                  <a:prstDash val="solid"/>
                </a:ln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800" b="1">
                <a:ln w="4286">
                  <a:solidFill>
                    <a:srgbClr val="18C8FF">
                      <a:alpha val="22000"/>
                    </a:srgbClr>
                  </a:solidFill>
                  <a:prstDash val="solid"/>
                </a:ln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生物医学工程</a:t>
            </a:r>
            <a:endParaRPr sz="1800" b="1">
              <a:ln w="4286">
                <a:solidFill>
                  <a:srgbClr val="18C8FF">
                    <a:alpha val="22000"/>
                  </a:srgbClr>
                </a:solidFill>
                <a:prstDash val="solid"/>
              </a:ln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2756325" y="976591"/>
            <a:ext cx="2143809" cy="3388916"/>
          </a:xfrm>
          <a:prstGeom prst="rect">
            <a:avLst/>
          </a:prstGeom>
        </p:spPr>
      </p:pic>
      <p:sp>
        <p:nvSpPr>
          <p:cNvPr id="10" name="page3-card-title-mask-page3_card_prosthetic_soft.png"/>
          <p:cNvSpPr>
            <a:spLocks noGrp="1"/>
          </p:cNvSpPr>
          <p:nvPr/>
        </p:nvSpPr>
        <p:spPr>
          <a:xfrm>
            <a:off x="2889675" y="1148041"/>
            <a:ext cx="1877109" cy="533400"/>
          </a:xfrm>
          <a:prstGeom prst="rect">
            <a:avLst/>
          </a:prstGeom>
          <a:solidFill>
            <a:srgbClr val="062F38">
              <a:alpha val="96000"/>
            </a:srgbClr>
          </a:solidFill>
          <a:ln w="0">
            <a:noFill/>
            <a:prstDash val="solid"/>
          </a:ln>
        </p:spPr>
      </p:sp>
      <p:sp>
        <p:nvSpPr>
          <p:cNvPr id="11" name="page3-editable-card-title-page3_card_prosthetic_soft.png"/>
          <p:cNvSpPr>
            <a:spLocks noGrp="1"/>
          </p:cNvSpPr>
          <p:nvPr/>
        </p:nvSpPr>
        <p:spPr>
          <a:xfrm>
            <a:off x="2918250" y="1167091"/>
            <a:ext cx="1819959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800" b="1">
                <a:ln w="4286">
                  <a:solidFill>
                    <a:srgbClr val="11D3D7">
                      <a:alpha val="22000"/>
                    </a:srgbClr>
                  </a:solidFill>
                  <a:prstDash val="solid"/>
                </a:ln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800" b="1">
                <a:ln w="4286">
                  <a:solidFill>
                    <a:srgbClr val="11D3D7">
                      <a:alpha val="22000"/>
                    </a:srgbClr>
                  </a:solidFill>
                  <a:prstDash val="solid"/>
                </a:ln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假肢矫形工程</a:t>
            </a:r>
            <a:endParaRPr sz="1800" b="1">
              <a:ln w="4286">
                <a:solidFill>
                  <a:srgbClr val="11D3D7">
                    <a:alpha val="22000"/>
                  </a:srgbClr>
                </a:solidFill>
                <a:prstDash val="solid"/>
              </a:ln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4"/>
          <a:srcRect t="27" b="27"/>
          <a:stretch>
            <a:fillRect/>
          </a:stretch>
        </p:blipFill>
        <p:spPr>
          <a:xfrm>
            <a:off x="5060555" y="976591"/>
            <a:ext cx="2129225" cy="3388916"/>
          </a:xfrm>
          <a:prstGeom prst="rect">
            <a:avLst/>
          </a:prstGeom>
        </p:spPr>
      </p:pic>
      <p:sp>
        <p:nvSpPr>
          <p:cNvPr id="13" name="page3-card-title-mask-page3_card_clinical_soft.png"/>
          <p:cNvSpPr>
            <a:spLocks noGrp="1"/>
          </p:cNvSpPr>
          <p:nvPr/>
        </p:nvSpPr>
        <p:spPr>
          <a:xfrm>
            <a:off x="5193905" y="1148041"/>
            <a:ext cx="1862525" cy="533400"/>
          </a:xfrm>
          <a:prstGeom prst="rect">
            <a:avLst/>
          </a:prstGeom>
          <a:solidFill>
            <a:srgbClr val="211B4A">
              <a:alpha val="96000"/>
            </a:srgbClr>
          </a:solidFill>
          <a:ln w="0">
            <a:noFill/>
            <a:prstDash val="solid"/>
          </a:ln>
        </p:spPr>
      </p:sp>
      <p:sp>
        <p:nvSpPr>
          <p:cNvPr id="14" name="page3-editable-card-title-page3_card_clinical_soft.png"/>
          <p:cNvSpPr>
            <a:spLocks noGrp="1"/>
          </p:cNvSpPr>
          <p:nvPr/>
        </p:nvSpPr>
        <p:spPr>
          <a:xfrm>
            <a:off x="5222480" y="1167091"/>
            <a:ext cx="1805375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800" b="1">
                <a:ln w="4286">
                  <a:solidFill>
                    <a:srgbClr val="A889FF">
                      <a:alpha val="22000"/>
                    </a:srgbClr>
                  </a:solidFill>
                  <a:prstDash val="solid"/>
                </a:ln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800" b="1">
                <a:ln w="4286">
                  <a:solidFill>
                    <a:srgbClr val="A889FF">
                      <a:alpha val="22000"/>
                    </a:srgbClr>
                  </a:solidFill>
                  <a:prstDash val="solid"/>
                </a:ln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临床工程技术</a:t>
            </a:r>
            <a:endParaRPr sz="1800" b="1">
              <a:ln w="4286">
                <a:solidFill>
                  <a:srgbClr val="A889FF">
                    <a:alpha val="22000"/>
                  </a:srgbClr>
                </a:solidFill>
                <a:prstDash val="solid"/>
              </a:ln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pic>
        <p:nvPicPr>
          <p:cNvPr id="55" name="图片 54"/>
          <p:cNvPicPr>
            <a:picLocks noChangeAspect="1"/>
          </p:cNvPicPr>
          <p:nvPr/>
        </p:nvPicPr>
        <p:blipFill>
          <a:blip r:embed="rId5"/>
          <a:srcRect t="27" b="27"/>
          <a:stretch>
            <a:fillRect/>
          </a:stretch>
        </p:blipFill>
        <p:spPr>
          <a:xfrm>
            <a:off x="7350201" y="976591"/>
            <a:ext cx="2114641" cy="3388916"/>
          </a:xfrm>
          <a:prstGeom prst="rect">
            <a:avLst/>
          </a:prstGeom>
        </p:spPr>
      </p:pic>
      <p:sp>
        <p:nvSpPr>
          <p:cNvPr id="16" name="page3-card-title-mask-page3_card_rehab_soft.png"/>
          <p:cNvSpPr>
            <a:spLocks noGrp="1"/>
          </p:cNvSpPr>
          <p:nvPr/>
        </p:nvSpPr>
        <p:spPr>
          <a:xfrm>
            <a:off x="7483551" y="1148041"/>
            <a:ext cx="1847941" cy="533400"/>
          </a:xfrm>
          <a:prstGeom prst="rect">
            <a:avLst/>
          </a:prstGeom>
          <a:solidFill>
            <a:srgbClr val="351832">
              <a:alpha val="96000"/>
            </a:srgbClr>
          </a:solidFill>
          <a:ln w="0">
            <a:noFill/>
            <a:prstDash val="solid"/>
          </a:ln>
        </p:spPr>
      </p:sp>
      <p:sp>
        <p:nvSpPr>
          <p:cNvPr id="17" name="page3-editable-card-title-page3_card_rehab_soft.png"/>
          <p:cNvSpPr>
            <a:spLocks noGrp="1"/>
          </p:cNvSpPr>
          <p:nvPr/>
        </p:nvSpPr>
        <p:spPr>
          <a:xfrm>
            <a:off x="7512126" y="1167091"/>
            <a:ext cx="1790791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800" b="1">
                <a:ln w="4286">
                  <a:solidFill>
                    <a:srgbClr val="FF5EB5">
                      <a:alpha val="22000"/>
                    </a:srgbClr>
                  </a:solidFill>
                  <a:prstDash val="solid"/>
                </a:ln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800" b="1">
                <a:ln w="4286">
                  <a:solidFill>
                    <a:srgbClr val="FF5EB5">
                      <a:alpha val="22000"/>
                    </a:srgbClr>
                  </a:solidFill>
                  <a:prstDash val="solid"/>
                </a:ln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康复工程</a:t>
            </a:r>
            <a:endParaRPr sz="1800" b="1">
              <a:ln w="4286">
                <a:solidFill>
                  <a:srgbClr val="FF5EB5">
                    <a:alpha val="22000"/>
                  </a:srgbClr>
                </a:solidFill>
                <a:prstDash val="solid"/>
              </a:ln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pic>
        <p:nvPicPr>
          <p:cNvPr id="58" name="图片 57"/>
          <p:cNvPicPr>
            <a:picLocks noChangeAspect="1"/>
          </p:cNvPicPr>
          <p:nvPr/>
        </p:nvPicPr>
        <p:blipFill>
          <a:blip r:embed="rId6"/>
          <a:srcRect t="27" b="27"/>
          <a:stretch>
            <a:fillRect/>
          </a:stretch>
        </p:blipFill>
        <p:spPr>
          <a:xfrm>
            <a:off x="9625263" y="976591"/>
            <a:ext cx="2078182" cy="3388916"/>
          </a:xfrm>
          <a:prstGeom prst="rect">
            <a:avLst/>
          </a:prstGeom>
        </p:spPr>
      </p:pic>
      <p:sp>
        <p:nvSpPr>
          <p:cNvPr id="19" name="page3-card-title-mask-page3_card_healthtech_soft.png"/>
          <p:cNvSpPr>
            <a:spLocks noGrp="1"/>
          </p:cNvSpPr>
          <p:nvPr/>
        </p:nvSpPr>
        <p:spPr>
          <a:xfrm>
            <a:off x="9758613" y="1148041"/>
            <a:ext cx="1811482" cy="533400"/>
          </a:xfrm>
          <a:prstGeom prst="rect">
            <a:avLst/>
          </a:prstGeom>
          <a:solidFill>
            <a:srgbClr val="101B48">
              <a:alpha val="96000"/>
            </a:srgbClr>
          </a:solidFill>
          <a:ln w="0">
            <a:noFill/>
            <a:prstDash val="solid"/>
          </a:ln>
        </p:spPr>
      </p:sp>
      <p:sp>
        <p:nvSpPr>
          <p:cNvPr id="20" name="page3-editable-card-title-page3_card_healthtech_soft.png"/>
          <p:cNvSpPr>
            <a:spLocks noGrp="1"/>
          </p:cNvSpPr>
          <p:nvPr/>
        </p:nvSpPr>
        <p:spPr>
          <a:xfrm>
            <a:off x="9787188" y="1167091"/>
            <a:ext cx="1754332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1800" b="1">
                <a:ln w="4286">
                  <a:solidFill>
                    <a:srgbClr val="8179FF">
                      <a:alpha val="22000"/>
                    </a:srgbClr>
                  </a:solidFill>
                  <a:prstDash val="solid"/>
                </a:ln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800" b="1">
                <a:ln w="4286">
                  <a:solidFill>
                    <a:srgbClr val="8179FF">
                      <a:alpha val="22000"/>
                    </a:srgbClr>
                  </a:solidFill>
                  <a:prstDash val="solid"/>
                </a:ln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健康科学与技术</a:t>
            </a:r>
            <a:endParaRPr sz="1800" b="1">
              <a:ln w="4286">
                <a:solidFill>
                  <a:srgbClr val="8179FF">
                    <a:alpha val="22000"/>
                  </a:srgbClr>
                </a:solidFill>
                <a:prstDash val="solid"/>
              </a:ln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1" name="page3-frontier-panel-outline"/>
          <p:cNvSpPr>
            <a:spLocks noGrp="1"/>
          </p:cNvSpPr>
          <p:nvPr/>
        </p:nvSpPr>
        <p:spPr>
          <a:xfrm>
            <a:off x="408344" y="4751770"/>
            <a:ext cx="11295100" cy="1282687"/>
          </a:xfrm>
          <a:prstGeom prst="roundRect">
            <a:avLst>
              <a:gd name="adj" fmla="val 16337"/>
            </a:avLst>
          </a:prstGeom>
          <a:solidFill>
            <a:srgbClr val="06182D">
              <a:alpha val="24000"/>
            </a:srgbClr>
          </a:solidFill>
          <a:ln w="10478">
            <a:solidFill>
              <a:srgbClr val="126ED8">
                <a:alpha val="82000"/>
              </a:srgbClr>
            </a:solidFill>
            <a:prstDash val="solid"/>
          </a:ln>
        </p:spPr>
      </p:sp>
      <p:sp>
        <p:nvSpPr>
          <p:cNvPr id="22" name="page3-editable-frontier-title"/>
          <p:cNvSpPr>
            <a:spLocks noGrp="1"/>
          </p:cNvSpPr>
          <p:nvPr/>
        </p:nvSpPr>
        <p:spPr>
          <a:xfrm>
            <a:off x="5191125" y="4667250"/>
            <a:ext cx="1809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ctr">
              <a:defRPr sz="2325" b="1">
                <a:ln w="4763">
                  <a:solidFill>
                    <a:srgbClr val="BFF8FF">
                      <a:alpha val="25000"/>
                    </a:srgbClr>
                  </a:solidFill>
                  <a:prstDash val="solid"/>
                </a:ln>
                <a:solidFill>
                  <a:srgbClr val="BFF8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2325" b="1">
                <a:ln w="4763">
                  <a:solidFill>
                    <a:srgbClr val="BFF8FF">
                      <a:alpha val="25000"/>
                    </a:srgbClr>
                  </a:solidFill>
                  <a:prstDash val="solid"/>
                </a:ln>
                <a:solidFill>
                  <a:srgbClr val="BFF8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前沿领域</a:t>
            </a:r>
            <a:endParaRPr sz="2325" b="1">
              <a:ln w="4763">
                <a:solidFill>
                  <a:srgbClr val="BFF8FF">
                    <a:alpha val="25000"/>
                  </a:srgbClr>
                </a:solidFill>
                <a:prstDash val="solid"/>
              </a:ln>
              <a:solidFill>
                <a:srgbClr val="BFF8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3" name="page3-frontier-line-left"/>
          <p:cNvSpPr>
            <a:spLocks noGrp="1"/>
          </p:cNvSpPr>
          <p:nvPr/>
        </p:nvSpPr>
        <p:spPr>
          <a:xfrm>
            <a:off x="4524375" y="4886325"/>
            <a:ext cx="495300" cy="11430"/>
          </a:xfrm>
          <a:prstGeom prst="rect">
            <a:avLst/>
          </a:prstGeom>
          <a:solidFill>
            <a:srgbClr val="0B86E8">
              <a:alpha val="78000"/>
            </a:srgbClr>
          </a:solidFill>
          <a:ln w="0">
            <a:noFill/>
            <a:prstDash val="solid"/>
          </a:ln>
        </p:spPr>
      </p:sp>
      <p:sp>
        <p:nvSpPr>
          <p:cNvPr id="24" name="page3-frontier-line-right"/>
          <p:cNvSpPr>
            <a:spLocks noGrp="1"/>
          </p:cNvSpPr>
          <p:nvPr/>
        </p:nvSpPr>
        <p:spPr>
          <a:xfrm>
            <a:off x="7124700" y="4886325"/>
            <a:ext cx="495300" cy="11430"/>
          </a:xfrm>
          <a:prstGeom prst="rect">
            <a:avLst/>
          </a:prstGeom>
          <a:solidFill>
            <a:srgbClr val="0B86E8">
              <a:alpha val="78000"/>
            </a:srgbClr>
          </a:solidFill>
          <a:ln w="0">
            <a:noFill/>
            <a:prstDash val="solid"/>
          </a:ln>
        </p:spPr>
      </p:sp>
      <p:sp>
        <p:nvSpPr>
          <p:cNvPr id="25" name="page3-chip-page3_icon_medical_imaging_soft.png"/>
          <p:cNvSpPr>
            <a:spLocks noGrp="1"/>
          </p:cNvSpPr>
          <p:nvPr/>
        </p:nvSpPr>
        <p:spPr>
          <a:xfrm>
            <a:off x="695325" y="5076825"/>
            <a:ext cx="2019300" cy="742950"/>
          </a:xfrm>
          <a:prstGeom prst="roundRect">
            <a:avLst>
              <a:gd name="adj" fmla="val 28205"/>
            </a:avLst>
          </a:prstGeom>
          <a:solidFill>
            <a:srgbClr val="071A33">
              <a:alpha val="72000"/>
            </a:srgbClr>
          </a:solidFill>
          <a:ln w="10001">
            <a:solidFill>
              <a:srgbClr val="0AA6FF">
                <a:alpha val="92000"/>
              </a:srgbClr>
            </a:solidFill>
            <a:prstDash val="solid"/>
          </a:ln>
        </p:spPr>
      </p:sp>
      <p:pic>
        <p:nvPicPr>
          <p:cNvPr id="66" name="图片 65"/>
          <p:cNvPicPr>
            <a:picLocks noChangeAspect="1"/>
          </p:cNvPicPr>
          <p:nvPr/>
        </p:nvPicPr>
        <p:blipFill>
          <a:blip r:embed="rId7"/>
          <a:srcRect l="12564" r="12564"/>
          <a:stretch>
            <a:fillRect/>
          </a:stretch>
        </p:blipFill>
        <p:spPr>
          <a:xfrm>
            <a:off x="885825" y="5238750"/>
            <a:ext cx="457200" cy="409575"/>
          </a:xfrm>
          <a:prstGeom prst="rect">
            <a:avLst/>
          </a:prstGeom>
        </p:spPr>
      </p:pic>
      <p:sp>
        <p:nvSpPr>
          <p:cNvPr id="27" name="page3-editable-chip-label-page3_icon_medical_imaging_soft.png"/>
          <p:cNvSpPr>
            <a:spLocks noGrp="1"/>
          </p:cNvSpPr>
          <p:nvPr/>
        </p:nvSpPr>
        <p:spPr>
          <a:xfrm>
            <a:off x="1476375" y="5267325"/>
            <a:ext cx="1123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725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725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医学影像</a:t>
            </a:r>
            <a:endParaRPr sz="1725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8" name="page3-chip-page3_icon_bci_soft.png"/>
          <p:cNvSpPr>
            <a:spLocks noGrp="1"/>
          </p:cNvSpPr>
          <p:nvPr/>
        </p:nvSpPr>
        <p:spPr>
          <a:xfrm>
            <a:off x="2876550" y="5076825"/>
            <a:ext cx="1905000" cy="742950"/>
          </a:xfrm>
          <a:prstGeom prst="roundRect">
            <a:avLst>
              <a:gd name="adj" fmla="val 28205"/>
            </a:avLst>
          </a:prstGeom>
          <a:solidFill>
            <a:srgbClr val="071A33">
              <a:alpha val="72000"/>
            </a:srgbClr>
          </a:solidFill>
          <a:ln w="10001">
            <a:solidFill>
              <a:srgbClr val="08CFD4">
                <a:alpha val="92000"/>
              </a:srgbClr>
            </a:solidFill>
            <a:prstDash val="solid"/>
          </a:ln>
        </p:spPr>
      </p:sp>
      <p:pic>
        <p:nvPicPr>
          <p:cNvPr id="69" name="图片 68"/>
          <p:cNvPicPr>
            <a:picLocks noChangeAspect="1"/>
          </p:cNvPicPr>
          <p:nvPr/>
        </p:nvPicPr>
        <p:blipFill>
          <a:blip r:embed="rId8"/>
          <a:srcRect t="2765" b="2765"/>
          <a:stretch>
            <a:fillRect/>
          </a:stretch>
        </p:blipFill>
        <p:spPr>
          <a:xfrm>
            <a:off x="3067050" y="5238750"/>
            <a:ext cx="457200" cy="409575"/>
          </a:xfrm>
          <a:prstGeom prst="rect">
            <a:avLst/>
          </a:prstGeom>
        </p:spPr>
      </p:pic>
      <p:sp>
        <p:nvSpPr>
          <p:cNvPr id="30" name="page3-editable-chip-label-page3_icon_bci_soft.png"/>
          <p:cNvSpPr>
            <a:spLocks noGrp="1"/>
          </p:cNvSpPr>
          <p:nvPr/>
        </p:nvSpPr>
        <p:spPr>
          <a:xfrm>
            <a:off x="3657600" y="5267325"/>
            <a:ext cx="10096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725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725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脑机接口</a:t>
            </a:r>
            <a:endParaRPr sz="1725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1" name="page3-chip-page3_icon_biomaterial_soft.png"/>
          <p:cNvSpPr>
            <a:spLocks noGrp="1"/>
          </p:cNvSpPr>
          <p:nvPr/>
        </p:nvSpPr>
        <p:spPr>
          <a:xfrm>
            <a:off x="4953000" y="5076825"/>
            <a:ext cx="2095500" cy="742950"/>
          </a:xfrm>
          <a:prstGeom prst="roundRect">
            <a:avLst>
              <a:gd name="adj" fmla="val 28205"/>
            </a:avLst>
          </a:prstGeom>
          <a:solidFill>
            <a:srgbClr val="071A33">
              <a:alpha val="72000"/>
            </a:srgbClr>
          </a:solidFill>
          <a:ln w="10001">
            <a:solidFill>
              <a:srgbClr val="9267FF">
                <a:alpha val="92000"/>
              </a:srgbClr>
            </a:solidFill>
            <a:prstDash val="solid"/>
          </a:ln>
        </p:spPr>
      </p:sp>
      <p:pic>
        <p:nvPicPr>
          <p:cNvPr id="72" name="图片 71"/>
          <p:cNvPicPr>
            <a:picLocks noChangeAspect="1"/>
          </p:cNvPicPr>
          <p:nvPr/>
        </p:nvPicPr>
        <p:blipFill>
          <a:blip r:embed="rId9"/>
          <a:srcRect t="3486" b="3486"/>
          <a:stretch>
            <a:fillRect/>
          </a:stretch>
        </p:blipFill>
        <p:spPr>
          <a:xfrm>
            <a:off x="5143500" y="5238750"/>
            <a:ext cx="457200" cy="409575"/>
          </a:xfrm>
          <a:prstGeom prst="rect">
            <a:avLst/>
          </a:prstGeom>
        </p:spPr>
      </p:pic>
      <p:sp>
        <p:nvSpPr>
          <p:cNvPr id="33" name="page3-editable-chip-label-page3_icon_biomaterial_soft.png"/>
          <p:cNvSpPr>
            <a:spLocks noGrp="1"/>
          </p:cNvSpPr>
          <p:nvPr/>
        </p:nvSpPr>
        <p:spPr>
          <a:xfrm>
            <a:off x="5734050" y="5267325"/>
            <a:ext cx="12001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725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725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生物材料</a:t>
            </a:r>
            <a:endParaRPr sz="1725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4" name="page3-chip-page3_icon_precision_soft.png"/>
          <p:cNvSpPr>
            <a:spLocks noGrp="1"/>
          </p:cNvSpPr>
          <p:nvPr/>
        </p:nvSpPr>
        <p:spPr>
          <a:xfrm>
            <a:off x="7191375" y="5076825"/>
            <a:ext cx="2000250" cy="742950"/>
          </a:xfrm>
          <a:prstGeom prst="roundRect">
            <a:avLst>
              <a:gd name="adj" fmla="val 28205"/>
            </a:avLst>
          </a:prstGeom>
          <a:solidFill>
            <a:srgbClr val="071A33">
              <a:alpha val="72000"/>
            </a:srgbClr>
          </a:solidFill>
          <a:ln w="10001">
            <a:solidFill>
              <a:srgbClr val="FF61B8">
                <a:alpha val="92000"/>
              </a:srgbClr>
            </a:solidFill>
            <a:prstDash val="solid"/>
          </a:ln>
        </p:spPr>
      </p:sp>
      <p:pic>
        <p:nvPicPr>
          <p:cNvPr id="75" name="图片 74"/>
          <p:cNvPicPr>
            <a:picLocks noChangeAspect="1"/>
          </p:cNvPicPr>
          <p:nvPr/>
        </p:nvPicPr>
        <p:blipFill>
          <a:blip r:embed="rId10"/>
          <a:srcRect l="3188" r="3188"/>
          <a:stretch>
            <a:fillRect/>
          </a:stretch>
        </p:blipFill>
        <p:spPr>
          <a:xfrm>
            <a:off x="7381875" y="5238750"/>
            <a:ext cx="457200" cy="409575"/>
          </a:xfrm>
          <a:prstGeom prst="rect">
            <a:avLst/>
          </a:prstGeom>
        </p:spPr>
      </p:pic>
      <p:sp>
        <p:nvSpPr>
          <p:cNvPr id="36" name="page3-editable-chip-label-page3_icon_precision_soft.png"/>
          <p:cNvSpPr>
            <a:spLocks noGrp="1"/>
          </p:cNvSpPr>
          <p:nvPr/>
        </p:nvSpPr>
        <p:spPr>
          <a:xfrm>
            <a:off x="7972425" y="5267325"/>
            <a:ext cx="11049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725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725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精准医学</a:t>
            </a:r>
            <a:endParaRPr sz="1725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7" name="page3-chip-page3_icon_smart_rehab_soft.png"/>
          <p:cNvSpPr>
            <a:spLocks noGrp="1"/>
          </p:cNvSpPr>
          <p:nvPr/>
        </p:nvSpPr>
        <p:spPr>
          <a:xfrm>
            <a:off x="9363075" y="5076825"/>
            <a:ext cx="2133600" cy="742950"/>
          </a:xfrm>
          <a:prstGeom prst="roundRect">
            <a:avLst>
              <a:gd name="adj" fmla="val 28205"/>
            </a:avLst>
          </a:prstGeom>
          <a:solidFill>
            <a:srgbClr val="071A33">
              <a:alpha val="72000"/>
            </a:srgbClr>
          </a:solidFill>
          <a:ln w="10001">
            <a:solidFill>
              <a:srgbClr val="8179FF">
                <a:alpha val="92000"/>
              </a:srgbClr>
            </a:solidFill>
            <a:prstDash val="solid"/>
          </a:ln>
        </p:spPr>
      </p:sp>
      <p:pic>
        <p:nvPicPr>
          <p:cNvPr id="78" name="图片 77"/>
          <p:cNvPicPr>
            <a:picLocks noChangeAspect="1"/>
          </p:cNvPicPr>
          <p:nvPr/>
        </p:nvPicPr>
        <p:blipFill>
          <a:blip r:embed="rId11"/>
          <a:srcRect l="388" r="388"/>
          <a:stretch>
            <a:fillRect/>
          </a:stretch>
        </p:blipFill>
        <p:spPr>
          <a:xfrm>
            <a:off x="9553575" y="5238750"/>
            <a:ext cx="457200" cy="409575"/>
          </a:xfrm>
          <a:prstGeom prst="rect">
            <a:avLst/>
          </a:prstGeom>
        </p:spPr>
      </p:pic>
      <p:sp>
        <p:nvSpPr>
          <p:cNvPr id="39" name="page3-editable-chip-label-page3_icon_smart_rehab_soft.png"/>
          <p:cNvSpPr>
            <a:spLocks noGrp="1"/>
          </p:cNvSpPr>
          <p:nvPr/>
        </p:nvSpPr>
        <p:spPr>
          <a:xfrm>
            <a:off x="10144125" y="5267325"/>
            <a:ext cx="1238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>
            <a:normAutofit/>
          </a:bodyPr>
          <a:lstStyle/>
          <a:p>
            <a:pPr algn="l">
              <a:defRPr sz="1725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defRPr>
            </a:pPr>
            <a:r>
              <a:rPr sz="1725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智能康复</a:t>
            </a:r>
            <a:endParaRPr sz="1725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0" name="page3-bottom-horizon-line"/>
          <p:cNvSpPr>
            <a:spLocks noGrp="1"/>
          </p:cNvSpPr>
          <p:nvPr/>
        </p:nvSpPr>
        <p:spPr>
          <a:xfrm>
            <a:off x="0" y="6429375"/>
            <a:ext cx="12192000" cy="13335"/>
          </a:xfrm>
          <a:prstGeom prst="rect">
            <a:avLst/>
          </a:prstGeom>
          <a:solidFill>
            <a:srgbClr val="0AA6FF">
              <a:alpha val="70000"/>
            </a:srgbClr>
          </a:solidFill>
          <a:ln w="0">
            <a:noFill/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</Words>
  <Application>WPS 演示</Application>
  <PresentationFormat>Converted Presentation</PresentationFormat>
  <Paragraphs>24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宋体</vt:lpstr>
      <vt:lpstr>Wingdings</vt:lpstr>
      <vt:lpstr>Microsoft YaHei UI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HanYu</cp:lastModifiedBy>
  <cp:revision>1</cp:revision>
  <dcterms:created xsi:type="dcterms:W3CDTF">2026-08-09T12:13:09Z</dcterms:created>
  <dcterms:modified xsi:type="dcterms:W3CDTF">2026-08-09T12:13:09Z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3F72B3669EBB41818954CFC64A22DA3C_12</vt:lpwstr>
  </property>
  <property fmtid="{D5CDD505-2E9C-101B-9397-08002B2CF9AE}" pid="3" name="KSOProductBuildVer">
    <vt:lpwstr>2052-12.1.0.28022</vt:lpwstr>
  </property>
</Properties>
</file>