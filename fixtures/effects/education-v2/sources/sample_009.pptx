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61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87" d="100"/>
          <a:sy n="87" d="100"/>
        </p:scale>
        <p:origin x="60" y="460"/>
      </p:cViewPr>
      <p:guideLst>
        <p:guide orient="horz" pos="218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这一页讨论新高考改革历程。新高考改革历程 试点改革的阵痛：基础学科选择比重下降明显高考试卷类型 ——2024 全国六套卷（主科）考试科目、分值、等级赋分计算方式 考什么？怎么录？三门必考：语数外，每门150分 批次合并：合并本一、二招生批次 一门首选：物理、历史选1门，100分 平行志愿：按照学生的高考总分和院校 志愿，分学校实行平行 两门再选：化学、生物、地理、政治，任选2门，满分 100分 志愿投档和录取。录取时，将按照选物理的考生和选历史 的 考生分两个序列排队录取。。理解这一点的目的，是把本页信息放回新高考政策的整体框架，并据此判断下一步需要核对的数据、限制条件和行动节点。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新高一规划_学术期刊编辑风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4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668274" y="315278"/>
            <a:ext cx="10837926" cy="999172"/>
            <a:chOff x="668274" y="315278"/>
            <a:chExt cx="10837926" cy="999172"/>
          </a:xfrm>
        </p:grpSpPr>
        <p:sp>
          <p:nvSpPr>
            <p:cNvPr id="2" name="TextBox 2"/>
            <p:cNvSpPr txBox="1"/>
            <p:nvPr/>
          </p:nvSpPr>
          <p:spPr>
            <a:xfrm>
              <a:off x="680466" y="315278"/>
              <a:ext cx="27708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28" dirty="0">
                  <a:solidFill>
                    <a:schemeClr val="accent2"/>
                  </a:solidFill>
                </a:rPr>
                <a:t>NEW SENIOR HIGH PLANNING / 06</a:t>
              </a:r>
              <a:endParaRPr lang="zh-CN" sz="1050" b="1" spc="128" dirty="0">
                <a:solidFill>
                  <a:schemeClr val="accent2"/>
                </a:solidFill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8274" y="446722"/>
              <a:ext cx="364190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新高考改革历程</a:t>
              </a:r>
              <a:endParaRPr lang="zh-CN" sz="34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685800" y="1304925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3335">
              <a:solidFill>
                <a:schemeClr val="accent1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85800" y="1304925"/>
              <a:ext cx="1638300" cy="9525"/>
            </a:xfrm>
            <a:custGeom>
              <a:avLst/>
              <a:gdLst/>
              <a:ahLst/>
              <a:cxnLst/>
              <a:rect l="l" t="t" r="r" b="b"/>
              <a:pathLst>
                <a:path w="1638300" h="9525">
                  <a:moveTo>
                    <a:pt x="0" y="0"/>
                  </a:moveTo>
                  <a:lnTo>
                    <a:pt x="1638300" y="0"/>
                  </a:lnTo>
                </a:path>
              </a:pathLst>
            </a:custGeom>
            <a:noFill/>
            <a:ln w="47625">
              <a:solidFill>
                <a:schemeClr val="accent2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781050" y="1600200"/>
            <a:ext cx="10629900" cy="666750"/>
            <a:chOff x="781050" y="1600200"/>
            <a:chExt cx="10629900" cy="666750"/>
          </a:xfrm>
        </p:grpSpPr>
        <p:sp>
          <p:nvSpPr>
            <p:cNvPr id="10" name="Rectangle 10"/>
            <p:cNvSpPr/>
            <p:nvPr/>
          </p:nvSpPr>
          <p:spPr>
            <a:xfrm>
              <a:off x="781050" y="1600200"/>
              <a:ext cx="10629900" cy="666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1"/>
            <p:cNvSpPr/>
            <p:nvPr/>
          </p:nvSpPr>
          <p:spPr>
            <a:xfrm>
              <a:off x="781050" y="160020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57150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3742" y="1711642"/>
              <a:ext cx="52232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新高考改革历程 试点改革的阵痛：基础学科选择比重下降明显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3" name="Group 363"/>
          <p:cNvGrpSpPr/>
          <p:nvPr/>
        </p:nvGrpSpPr>
        <p:grpSpPr>
          <a:xfrm>
            <a:off x="781050" y="2419350"/>
            <a:ext cx="10629900" cy="3676650"/>
            <a:chOff x="781050" y="2419350"/>
            <a:chExt cx="10629900" cy="3676650"/>
          </a:xfrm>
        </p:grpSpPr>
        <p:sp>
          <p:nvSpPr>
            <p:cNvPr id="14" name="Rectangle 14"/>
            <p:cNvSpPr/>
            <p:nvPr/>
          </p:nvSpPr>
          <p:spPr>
            <a:xfrm>
              <a:off x="781050" y="2419350"/>
              <a:ext cx="10629900" cy="3676650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81050" y="2419350"/>
              <a:ext cx="10629900" cy="133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3438" y="2460784"/>
              <a:ext cx="47570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b="1" dirty="0">
                  <a:solidFill>
                    <a:srgbClr val="F7F2E8"/>
                  </a:solidFill>
                  <a:latin typeface="+mn-lt"/>
                  <a:ea typeface="+mn-ea"/>
                  <a:cs typeface="+mn-cs"/>
                </a:rPr>
                <a:t>数据模块 1</a:t>
              </a:r>
              <a:endParaRPr lang="zh-CN" sz="680" b="1" dirty="0">
                <a:solidFill>
                  <a:srgbClr val="F7F2E8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Line 17"/>
            <p:cNvSpPr/>
            <p:nvPr/>
          </p:nvSpPr>
          <p:spPr>
            <a:xfrm>
              <a:off x="3680460" y="2419350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4646295" y="2419350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5291138" y="2419350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5935028" y="2419350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8834438" y="2419350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9478328" y="2419350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0122218" y="2419350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10767060" y="2419350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781050" y="2551748"/>
              <a:ext cx="10629900" cy="9525"/>
            </a:xfrm>
            <a:custGeom>
              <a:avLst/>
              <a:gdLst/>
              <a:ahLst/>
              <a:cxnLst/>
              <a:rect l="l" t="t" r="r" b="b"/>
              <a:pathLst>
                <a:path w="10629900" h="9525">
                  <a:moveTo>
                    <a:pt x="0" y="0"/>
                  </a:moveTo>
                  <a:lnTo>
                    <a:pt x="10629900" y="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3438" y="2593181"/>
              <a:ext cx="20176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省份</a:t>
              </a:r>
              <a:endParaRPr lang="zh-CN" sz="6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Line 27"/>
            <p:cNvSpPr/>
            <p:nvPr/>
          </p:nvSpPr>
          <p:spPr>
            <a:xfrm>
              <a:off x="3680460" y="2551748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732848" y="2593181"/>
              <a:ext cx="37569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改革批次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Line 29"/>
            <p:cNvSpPr/>
            <p:nvPr/>
          </p:nvSpPr>
          <p:spPr>
            <a:xfrm>
              <a:off x="4646295" y="2551748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698682" y="2593181"/>
              <a:ext cx="37569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启动年份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Line 31"/>
            <p:cNvSpPr/>
            <p:nvPr/>
          </p:nvSpPr>
          <p:spPr>
            <a:xfrm>
              <a:off x="5291138" y="2551748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343525" y="2593181"/>
              <a:ext cx="37569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考试年份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Line 33"/>
            <p:cNvSpPr/>
            <p:nvPr/>
          </p:nvSpPr>
          <p:spPr>
            <a:xfrm>
              <a:off x="5935028" y="2551748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987415" y="2593181"/>
              <a:ext cx="37569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选科模式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Line 35"/>
            <p:cNvSpPr/>
            <p:nvPr/>
          </p:nvSpPr>
          <p:spPr>
            <a:xfrm>
              <a:off x="8834438" y="2551748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9478328" y="2551748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10122218" y="2551748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10767060" y="2551748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781050" y="2685098"/>
              <a:ext cx="10629900" cy="9525"/>
            </a:xfrm>
            <a:custGeom>
              <a:avLst/>
              <a:gdLst/>
              <a:ahLst/>
              <a:cxnLst/>
              <a:rect l="l" t="t" r="r" b="b"/>
              <a:pathLst>
                <a:path w="10629900" h="9525">
                  <a:moveTo>
                    <a:pt x="0" y="0"/>
                  </a:moveTo>
                  <a:lnTo>
                    <a:pt x="10629900" y="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33438" y="2726531"/>
              <a:ext cx="49011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浙江、上海</a:t>
              </a:r>
              <a:endParaRPr lang="zh-CN" sz="6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Line 41"/>
            <p:cNvSpPr/>
            <p:nvPr/>
          </p:nvSpPr>
          <p:spPr>
            <a:xfrm>
              <a:off x="3680460" y="2685098"/>
              <a:ext cx="9525" cy="132398"/>
            </a:xfrm>
            <a:custGeom>
              <a:avLst/>
              <a:gdLst/>
              <a:ahLst/>
              <a:cxnLst/>
              <a:rect l="l" t="t" r="r" b="b"/>
              <a:pathLst>
                <a:path w="9525" h="132398">
                  <a:moveTo>
                    <a:pt x="0" y="0"/>
                  </a:moveTo>
                  <a:lnTo>
                    <a:pt x="0" y="132398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732848" y="2726531"/>
              <a:ext cx="46723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第一批试点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Line 43"/>
            <p:cNvSpPr/>
            <p:nvPr/>
          </p:nvSpPr>
          <p:spPr>
            <a:xfrm>
              <a:off x="4646295" y="2685098"/>
              <a:ext cx="9525" cy="132398"/>
            </a:xfrm>
            <a:custGeom>
              <a:avLst/>
              <a:gdLst/>
              <a:ahLst/>
              <a:cxnLst/>
              <a:rect l="l" t="t" r="r" b="b"/>
              <a:pathLst>
                <a:path w="9525" h="132398">
                  <a:moveTo>
                    <a:pt x="0" y="0"/>
                  </a:moveTo>
                  <a:lnTo>
                    <a:pt x="0" y="132398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698682" y="2726531"/>
              <a:ext cx="30245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2014年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Line 45"/>
            <p:cNvSpPr/>
            <p:nvPr/>
          </p:nvSpPr>
          <p:spPr>
            <a:xfrm>
              <a:off x="5291138" y="2685098"/>
              <a:ext cx="9525" cy="132398"/>
            </a:xfrm>
            <a:custGeom>
              <a:avLst/>
              <a:gdLst/>
              <a:ahLst/>
              <a:cxnLst/>
              <a:rect l="l" t="t" r="r" b="b"/>
              <a:pathLst>
                <a:path w="9525" h="132398">
                  <a:moveTo>
                    <a:pt x="0" y="0"/>
                  </a:moveTo>
                  <a:lnTo>
                    <a:pt x="0" y="132398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343525" y="2726531"/>
              <a:ext cx="30245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2017届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Line 47"/>
            <p:cNvSpPr/>
            <p:nvPr/>
          </p:nvSpPr>
          <p:spPr>
            <a:xfrm>
              <a:off x="5935028" y="2685098"/>
              <a:ext cx="9525" cy="132398"/>
            </a:xfrm>
            <a:custGeom>
              <a:avLst/>
              <a:gdLst/>
              <a:ahLst/>
              <a:cxnLst/>
              <a:rect l="l" t="t" r="r" b="b"/>
              <a:pathLst>
                <a:path w="9525" h="132398">
                  <a:moveTo>
                    <a:pt x="0" y="0"/>
                  </a:moveTo>
                  <a:lnTo>
                    <a:pt x="0" y="132398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987415" y="2726531"/>
              <a:ext cx="28885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3+3 / （语文、数学、英语必选 / + / 物化生政史地 6选3，浙江 7选3）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Line 49"/>
            <p:cNvSpPr/>
            <p:nvPr/>
          </p:nvSpPr>
          <p:spPr>
            <a:xfrm>
              <a:off x="8834438" y="2685098"/>
              <a:ext cx="9525" cy="132398"/>
            </a:xfrm>
            <a:custGeom>
              <a:avLst/>
              <a:gdLst/>
              <a:ahLst/>
              <a:cxnLst/>
              <a:rect l="l" t="t" r="r" b="b"/>
              <a:pathLst>
                <a:path w="9525" h="132398">
                  <a:moveTo>
                    <a:pt x="0" y="0"/>
                  </a:moveTo>
                  <a:lnTo>
                    <a:pt x="0" y="132398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9478328" y="2685098"/>
              <a:ext cx="9525" cy="132398"/>
            </a:xfrm>
            <a:custGeom>
              <a:avLst/>
              <a:gdLst/>
              <a:ahLst/>
              <a:cxnLst/>
              <a:rect l="l" t="t" r="r" b="b"/>
              <a:pathLst>
                <a:path w="9525" h="132398">
                  <a:moveTo>
                    <a:pt x="0" y="0"/>
                  </a:moveTo>
                  <a:lnTo>
                    <a:pt x="0" y="132398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10122218" y="2685098"/>
              <a:ext cx="9525" cy="132398"/>
            </a:xfrm>
            <a:custGeom>
              <a:avLst/>
              <a:gdLst/>
              <a:ahLst/>
              <a:cxnLst/>
              <a:rect l="l" t="t" r="r" b="b"/>
              <a:pathLst>
                <a:path w="9525" h="132398">
                  <a:moveTo>
                    <a:pt x="0" y="0"/>
                  </a:moveTo>
                  <a:lnTo>
                    <a:pt x="0" y="132398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10767060" y="2685098"/>
              <a:ext cx="9525" cy="132398"/>
            </a:xfrm>
            <a:custGeom>
              <a:avLst/>
              <a:gdLst/>
              <a:ahLst/>
              <a:cxnLst/>
              <a:rect l="l" t="t" r="r" b="b"/>
              <a:pathLst>
                <a:path w="9525" h="132398">
                  <a:moveTo>
                    <a:pt x="0" y="0"/>
                  </a:moveTo>
                  <a:lnTo>
                    <a:pt x="0" y="132398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781050" y="2817495"/>
              <a:ext cx="10629900" cy="9525"/>
            </a:xfrm>
            <a:custGeom>
              <a:avLst/>
              <a:gdLst/>
              <a:ahLst/>
              <a:cxnLst/>
              <a:rect l="l" t="t" r="r" b="b"/>
              <a:pathLst>
                <a:path w="10629900" h="9525">
                  <a:moveTo>
                    <a:pt x="0" y="0"/>
                  </a:moveTo>
                  <a:lnTo>
                    <a:pt x="10629900" y="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33438" y="2858929"/>
              <a:ext cx="1066830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北京、天津、海南、山东</a:t>
              </a:r>
              <a:endParaRPr lang="zh-CN" sz="6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5" name="Line 55"/>
            <p:cNvSpPr/>
            <p:nvPr/>
          </p:nvSpPr>
          <p:spPr>
            <a:xfrm>
              <a:off x="3680460" y="2817495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732848" y="2858929"/>
              <a:ext cx="284150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第二批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7" name="Line 57"/>
            <p:cNvSpPr/>
            <p:nvPr/>
          </p:nvSpPr>
          <p:spPr>
            <a:xfrm>
              <a:off x="4646295" y="2817495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698682" y="2858929"/>
              <a:ext cx="30245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2017年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" name="Line 59"/>
            <p:cNvSpPr/>
            <p:nvPr/>
          </p:nvSpPr>
          <p:spPr>
            <a:xfrm>
              <a:off x="5291138" y="2817495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343525" y="2858929"/>
              <a:ext cx="30245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2020届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" name="Line 61"/>
            <p:cNvSpPr/>
            <p:nvPr/>
          </p:nvSpPr>
          <p:spPr>
            <a:xfrm>
              <a:off x="5935028" y="2817495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62" name="Line 62"/>
            <p:cNvSpPr/>
            <p:nvPr/>
          </p:nvSpPr>
          <p:spPr>
            <a:xfrm>
              <a:off x="8834438" y="2817495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63" name="Line 63"/>
            <p:cNvSpPr/>
            <p:nvPr/>
          </p:nvSpPr>
          <p:spPr>
            <a:xfrm>
              <a:off x="9478328" y="2817495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10122218" y="2817495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65" name="Line 65"/>
            <p:cNvSpPr/>
            <p:nvPr/>
          </p:nvSpPr>
          <p:spPr>
            <a:xfrm>
              <a:off x="10767060" y="2817495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66" name="Line 66"/>
            <p:cNvSpPr/>
            <p:nvPr/>
          </p:nvSpPr>
          <p:spPr>
            <a:xfrm>
              <a:off x="781050" y="2950845"/>
              <a:ext cx="10629900" cy="9525"/>
            </a:xfrm>
            <a:custGeom>
              <a:avLst/>
              <a:gdLst/>
              <a:ahLst/>
              <a:cxnLst/>
              <a:rect l="l" t="t" r="r" b="b"/>
              <a:pathLst>
                <a:path w="10629900" h="9525">
                  <a:moveTo>
                    <a:pt x="0" y="0"/>
                  </a:moveTo>
                  <a:lnTo>
                    <a:pt x="10629900" y="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33438" y="2992279"/>
              <a:ext cx="247016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江苏 / 重庆、河北、辽宁、 、 / 福建、湖北、湖南、广东</a:t>
              </a:r>
              <a:endParaRPr lang="zh-CN" sz="6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8" name="Line 68"/>
            <p:cNvSpPr/>
            <p:nvPr/>
          </p:nvSpPr>
          <p:spPr>
            <a:xfrm>
              <a:off x="3680460" y="2950845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3732848" y="2992279"/>
              <a:ext cx="284150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第三批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0" name="Line 70"/>
            <p:cNvSpPr/>
            <p:nvPr/>
          </p:nvSpPr>
          <p:spPr>
            <a:xfrm>
              <a:off x="4646295" y="2950845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698682" y="2992279"/>
              <a:ext cx="30245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2018年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2" name="Line 72"/>
            <p:cNvSpPr/>
            <p:nvPr/>
          </p:nvSpPr>
          <p:spPr>
            <a:xfrm>
              <a:off x="5291138" y="2950845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343525" y="2992279"/>
              <a:ext cx="30245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2021届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4" name="Line 74"/>
            <p:cNvSpPr/>
            <p:nvPr/>
          </p:nvSpPr>
          <p:spPr>
            <a:xfrm>
              <a:off x="5935028" y="2950845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5987415" y="2992279"/>
              <a:ext cx="2798953" cy="240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840"/>
                </a:lnSpc>
              </a:pPr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3+1+2 / （语文、数学、英语 必选 / + / 物理、历史 2选1 / + / 生物、化</a:t>
              </a:r>
              <a:b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学、地理、政治 4选2）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6" name="Line 76"/>
            <p:cNvSpPr/>
            <p:nvPr/>
          </p:nvSpPr>
          <p:spPr>
            <a:xfrm>
              <a:off x="8834438" y="2950845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77" name="Line 77"/>
            <p:cNvSpPr/>
            <p:nvPr/>
          </p:nvSpPr>
          <p:spPr>
            <a:xfrm>
              <a:off x="9478328" y="2950845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78" name="Line 78"/>
            <p:cNvSpPr/>
            <p:nvPr/>
          </p:nvSpPr>
          <p:spPr>
            <a:xfrm>
              <a:off x="10122218" y="2950845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79" name="Line 79"/>
            <p:cNvSpPr/>
            <p:nvPr/>
          </p:nvSpPr>
          <p:spPr>
            <a:xfrm>
              <a:off x="10767060" y="2950845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80" name="Line 80"/>
            <p:cNvSpPr/>
            <p:nvPr/>
          </p:nvSpPr>
          <p:spPr>
            <a:xfrm>
              <a:off x="781050" y="3083242"/>
              <a:ext cx="10629900" cy="9525"/>
            </a:xfrm>
            <a:custGeom>
              <a:avLst/>
              <a:gdLst/>
              <a:ahLst/>
              <a:cxnLst/>
              <a:rect l="l" t="t" r="r" b="b"/>
              <a:pathLst>
                <a:path w="10629900" h="9525">
                  <a:moveTo>
                    <a:pt x="0" y="0"/>
                  </a:moveTo>
                  <a:lnTo>
                    <a:pt x="10629900" y="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33438" y="3124676"/>
              <a:ext cx="213855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黑龙江、甘肃、吉林、安徽、江西、 / 贵州、广西</a:t>
              </a:r>
              <a:endParaRPr lang="zh-CN" sz="6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2" name="Line 82"/>
            <p:cNvSpPr/>
            <p:nvPr/>
          </p:nvSpPr>
          <p:spPr>
            <a:xfrm>
              <a:off x="3680460" y="3083242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3732848" y="3124676"/>
              <a:ext cx="284150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第四批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4" name="Line 84"/>
            <p:cNvSpPr/>
            <p:nvPr/>
          </p:nvSpPr>
          <p:spPr>
            <a:xfrm>
              <a:off x="4646295" y="3083242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4698682" y="3124676"/>
              <a:ext cx="30245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2021年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6" name="Line 86"/>
            <p:cNvSpPr/>
            <p:nvPr/>
          </p:nvSpPr>
          <p:spPr>
            <a:xfrm>
              <a:off x="5291138" y="3083242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5343525" y="3124676"/>
              <a:ext cx="30245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2024届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8" name="Line 88"/>
            <p:cNvSpPr/>
            <p:nvPr/>
          </p:nvSpPr>
          <p:spPr>
            <a:xfrm>
              <a:off x="5935028" y="3083242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89" name="Line 89"/>
            <p:cNvSpPr/>
            <p:nvPr/>
          </p:nvSpPr>
          <p:spPr>
            <a:xfrm>
              <a:off x="8834438" y="3083242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90" name="Line 90"/>
            <p:cNvSpPr/>
            <p:nvPr/>
          </p:nvSpPr>
          <p:spPr>
            <a:xfrm>
              <a:off x="9478328" y="3083242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91" name="Line 91"/>
            <p:cNvSpPr/>
            <p:nvPr/>
          </p:nvSpPr>
          <p:spPr>
            <a:xfrm>
              <a:off x="10122218" y="3083242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92" name="Line 92"/>
            <p:cNvSpPr/>
            <p:nvPr/>
          </p:nvSpPr>
          <p:spPr>
            <a:xfrm>
              <a:off x="10767060" y="3083242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93" name="Line 93"/>
            <p:cNvSpPr/>
            <p:nvPr/>
          </p:nvSpPr>
          <p:spPr>
            <a:xfrm>
              <a:off x="781050" y="3216592"/>
              <a:ext cx="10629900" cy="9525"/>
            </a:xfrm>
            <a:custGeom>
              <a:avLst/>
              <a:gdLst/>
              <a:ahLst/>
              <a:cxnLst/>
              <a:rect l="l" t="t" r="r" b="b"/>
              <a:pathLst>
                <a:path w="10629900" h="9525">
                  <a:moveTo>
                    <a:pt x="0" y="0"/>
                  </a:moveTo>
                  <a:lnTo>
                    <a:pt x="10629900" y="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833438" y="3258026"/>
              <a:ext cx="2426910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河南、四川、云南、陕西、青海、 / 内蒙古、山西、宁夏</a:t>
              </a:r>
              <a:endParaRPr lang="zh-CN" sz="6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5" name="Line 95"/>
            <p:cNvSpPr/>
            <p:nvPr/>
          </p:nvSpPr>
          <p:spPr>
            <a:xfrm>
              <a:off x="3680460" y="3216592"/>
              <a:ext cx="9525" cy="132398"/>
            </a:xfrm>
            <a:custGeom>
              <a:avLst/>
              <a:gdLst/>
              <a:ahLst/>
              <a:cxnLst/>
              <a:rect l="l" t="t" r="r" b="b"/>
              <a:pathLst>
                <a:path w="9525" h="132398">
                  <a:moveTo>
                    <a:pt x="0" y="0"/>
                  </a:moveTo>
                  <a:lnTo>
                    <a:pt x="0" y="132398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3732848" y="3258026"/>
              <a:ext cx="284150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第五批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7" name="Line 97"/>
            <p:cNvSpPr/>
            <p:nvPr/>
          </p:nvSpPr>
          <p:spPr>
            <a:xfrm>
              <a:off x="4646295" y="3216592"/>
              <a:ext cx="9525" cy="132398"/>
            </a:xfrm>
            <a:custGeom>
              <a:avLst/>
              <a:gdLst/>
              <a:ahLst/>
              <a:cxnLst/>
              <a:rect l="l" t="t" r="r" b="b"/>
              <a:pathLst>
                <a:path w="9525" h="132398">
                  <a:moveTo>
                    <a:pt x="0" y="0"/>
                  </a:moveTo>
                  <a:lnTo>
                    <a:pt x="0" y="132398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4698682" y="3258026"/>
              <a:ext cx="30245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2022年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9" name="Line 99"/>
            <p:cNvSpPr/>
            <p:nvPr/>
          </p:nvSpPr>
          <p:spPr>
            <a:xfrm>
              <a:off x="5291138" y="3216592"/>
              <a:ext cx="9525" cy="132398"/>
            </a:xfrm>
            <a:custGeom>
              <a:avLst/>
              <a:gdLst/>
              <a:ahLst/>
              <a:cxnLst/>
              <a:rect l="l" t="t" r="r" b="b"/>
              <a:pathLst>
                <a:path w="9525" h="132398">
                  <a:moveTo>
                    <a:pt x="0" y="0"/>
                  </a:moveTo>
                  <a:lnTo>
                    <a:pt x="0" y="132398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5343525" y="3258026"/>
              <a:ext cx="30245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2025届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1" name="Line 101"/>
            <p:cNvSpPr/>
            <p:nvPr/>
          </p:nvSpPr>
          <p:spPr>
            <a:xfrm>
              <a:off x="5935028" y="3216592"/>
              <a:ext cx="9525" cy="132398"/>
            </a:xfrm>
            <a:custGeom>
              <a:avLst/>
              <a:gdLst/>
              <a:ahLst/>
              <a:cxnLst/>
              <a:rect l="l" t="t" r="r" b="b"/>
              <a:pathLst>
                <a:path w="9525" h="132398">
                  <a:moveTo>
                    <a:pt x="0" y="0"/>
                  </a:moveTo>
                  <a:lnTo>
                    <a:pt x="0" y="132398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02" name="Line 102"/>
            <p:cNvSpPr/>
            <p:nvPr/>
          </p:nvSpPr>
          <p:spPr>
            <a:xfrm>
              <a:off x="8834438" y="3216592"/>
              <a:ext cx="9525" cy="132398"/>
            </a:xfrm>
            <a:custGeom>
              <a:avLst/>
              <a:gdLst/>
              <a:ahLst/>
              <a:cxnLst/>
              <a:rect l="l" t="t" r="r" b="b"/>
              <a:pathLst>
                <a:path w="9525" h="132398">
                  <a:moveTo>
                    <a:pt x="0" y="0"/>
                  </a:moveTo>
                  <a:lnTo>
                    <a:pt x="0" y="132398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03" name="Line 103"/>
            <p:cNvSpPr/>
            <p:nvPr/>
          </p:nvSpPr>
          <p:spPr>
            <a:xfrm>
              <a:off x="9478328" y="3216592"/>
              <a:ext cx="9525" cy="132398"/>
            </a:xfrm>
            <a:custGeom>
              <a:avLst/>
              <a:gdLst/>
              <a:ahLst/>
              <a:cxnLst/>
              <a:rect l="l" t="t" r="r" b="b"/>
              <a:pathLst>
                <a:path w="9525" h="132398">
                  <a:moveTo>
                    <a:pt x="0" y="0"/>
                  </a:moveTo>
                  <a:lnTo>
                    <a:pt x="0" y="132398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04" name="Line 104"/>
            <p:cNvSpPr/>
            <p:nvPr/>
          </p:nvSpPr>
          <p:spPr>
            <a:xfrm>
              <a:off x="10122218" y="3216592"/>
              <a:ext cx="9525" cy="132398"/>
            </a:xfrm>
            <a:custGeom>
              <a:avLst/>
              <a:gdLst/>
              <a:ahLst/>
              <a:cxnLst/>
              <a:rect l="l" t="t" r="r" b="b"/>
              <a:pathLst>
                <a:path w="9525" h="132398">
                  <a:moveTo>
                    <a:pt x="0" y="0"/>
                  </a:moveTo>
                  <a:lnTo>
                    <a:pt x="0" y="132398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05" name="Line 105"/>
            <p:cNvSpPr/>
            <p:nvPr/>
          </p:nvSpPr>
          <p:spPr>
            <a:xfrm>
              <a:off x="10767060" y="3216592"/>
              <a:ext cx="9525" cy="132398"/>
            </a:xfrm>
            <a:custGeom>
              <a:avLst/>
              <a:gdLst/>
              <a:ahLst/>
              <a:cxnLst/>
              <a:rect l="l" t="t" r="r" b="b"/>
              <a:pathLst>
                <a:path w="9525" h="132398">
                  <a:moveTo>
                    <a:pt x="0" y="0"/>
                  </a:moveTo>
                  <a:lnTo>
                    <a:pt x="0" y="132398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06" name="Line 106"/>
            <p:cNvSpPr/>
            <p:nvPr/>
          </p:nvSpPr>
          <p:spPr>
            <a:xfrm>
              <a:off x="781050" y="3348990"/>
              <a:ext cx="10629900" cy="9525"/>
            </a:xfrm>
            <a:custGeom>
              <a:avLst/>
              <a:gdLst/>
              <a:ahLst/>
              <a:cxnLst/>
              <a:rect l="l" t="t" r="r" b="b"/>
              <a:pathLst>
                <a:path w="10629900" h="9525">
                  <a:moveTo>
                    <a:pt x="0" y="0"/>
                  </a:moveTo>
                  <a:lnTo>
                    <a:pt x="10629900" y="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833438" y="3390424"/>
              <a:ext cx="49011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西藏、新疆</a:t>
              </a:r>
              <a:endParaRPr lang="zh-CN" sz="6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8" name="Line 108"/>
            <p:cNvSpPr/>
            <p:nvPr/>
          </p:nvSpPr>
          <p:spPr>
            <a:xfrm>
              <a:off x="3680460" y="3348990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3732848" y="3390424"/>
              <a:ext cx="284150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老高考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0" name="Line 110"/>
            <p:cNvSpPr/>
            <p:nvPr/>
          </p:nvSpPr>
          <p:spPr>
            <a:xfrm>
              <a:off x="4646295" y="3348990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11" name="Line 111"/>
            <p:cNvSpPr/>
            <p:nvPr/>
          </p:nvSpPr>
          <p:spPr>
            <a:xfrm>
              <a:off x="5291138" y="3348990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12" name="Line 112"/>
            <p:cNvSpPr/>
            <p:nvPr/>
          </p:nvSpPr>
          <p:spPr>
            <a:xfrm>
              <a:off x="5935028" y="3348990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13" name="Line 113"/>
            <p:cNvSpPr/>
            <p:nvPr/>
          </p:nvSpPr>
          <p:spPr>
            <a:xfrm>
              <a:off x="8834438" y="3348990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14" name="Line 114"/>
            <p:cNvSpPr/>
            <p:nvPr/>
          </p:nvSpPr>
          <p:spPr>
            <a:xfrm>
              <a:off x="9478328" y="3348990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15" name="Line 115"/>
            <p:cNvSpPr/>
            <p:nvPr/>
          </p:nvSpPr>
          <p:spPr>
            <a:xfrm>
              <a:off x="10122218" y="3348990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16" name="Line 116"/>
            <p:cNvSpPr/>
            <p:nvPr/>
          </p:nvSpPr>
          <p:spPr>
            <a:xfrm>
              <a:off x="10767060" y="3348990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17" name="Line 117"/>
            <p:cNvSpPr/>
            <p:nvPr/>
          </p:nvSpPr>
          <p:spPr>
            <a:xfrm>
              <a:off x="781050" y="3482340"/>
              <a:ext cx="10629900" cy="9525"/>
            </a:xfrm>
            <a:custGeom>
              <a:avLst/>
              <a:gdLst/>
              <a:ahLst/>
              <a:cxnLst/>
              <a:rect l="l" t="t" r="r" b="b"/>
              <a:pathLst>
                <a:path w="10629900" h="9525">
                  <a:moveTo>
                    <a:pt x="0" y="0"/>
                  </a:moveTo>
                  <a:lnTo>
                    <a:pt x="10629900" y="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833438" y="3523774"/>
              <a:ext cx="47570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数据模块 2</a:t>
              </a:r>
              <a:endParaRPr lang="zh-CN" sz="6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9" name="Line 119"/>
            <p:cNvSpPr/>
            <p:nvPr/>
          </p:nvSpPr>
          <p:spPr>
            <a:xfrm>
              <a:off x="3680460" y="3482340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20" name="Line 120"/>
            <p:cNvSpPr/>
            <p:nvPr/>
          </p:nvSpPr>
          <p:spPr>
            <a:xfrm>
              <a:off x="4646295" y="3482340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21" name="Line 121"/>
            <p:cNvSpPr/>
            <p:nvPr/>
          </p:nvSpPr>
          <p:spPr>
            <a:xfrm>
              <a:off x="5291138" y="3482340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22" name="Line 122"/>
            <p:cNvSpPr/>
            <p:nvPr/>
          </p:nvSpPr>
          <p:spPr>
            <a:xfrm>
              <a:off x="5935028" y="3482340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23" name="Line 123"/>
            <p:cNvSpPr/>
            <p:nvPr/>
          </p:nvSpPr>
          <p:spPr>
            <a:xfrm>
              <a:off x="8834438" y="3482340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24" name="Line 124"/>
            <p:cNvSpPr/>
            <p:nvPr/>
          </p:nvSpPr>
          <p:spPr>
            <a:xfrm>
              <a:off x="9478328" y="3482340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25" name="Line 125"/>
            <p:cNvSpPr/>
            <p:nvPr/>
          </p:nvSpPr>
          <p:spPr>
            <a:xfrm>
              <a:off x="10122218" y="3482340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26" name="Line 126"/>
            <p:cNvSpPr/>
            <p:nvPr/>
          </p:nvSpPr>
          <p:spPr>
            <a:xfrm>
              <a:off x="10767060" y="3482340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27" name="Line 127"/>
            <p:cNvSpPr/>
            <p:nvPr/>
          </p:nvSpPr>
          <p:spPr>
            <a:xfrm>
              <a:off x="781050" y="3614738"/>
              <a:ext cx="10629900" cy="9525"/>
            </a:xfrm>
            <a:custGeom>
              <a:avLst/>
              <a:gdLst/>
              <a:ahLst/>
              <a:cxnLst/>
              <a:rect l="l" t="t" r="r" b="b"/>
              <a:pathLst>
                <a:path w="10629900" h="9525">
                  <a:moveTo>
                    <a:pt x="0" y="0"/>
                  </a:moveTo>
                  <a:lnTo>
                    <a:pt x="10629900" y="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28" name="TextBox 128"/>
            <p:cNvSpPr txBox="1"/>
            <p:nvPr/>
          </p:nvSpPr>
          <p:spPr>
            <a:xfrm>
              <a:off x="833438" y="3656171"/>
              <a:ext cx="394000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试卷类型</a:t>
              </a:r>
              <a:endParaRPr lang="zh-CN" sz="6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9" name="Line 129"/>
            <p:cNvSpPr/>
            <p:nvPr/>
          </p:nvSpPr>
          <p:spPr>
            <a:xfrm>
              <a:off x="3680460" y="3614738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30" name="TextBox 130"/>
            <p:cNvSpPr txBox="1"/>
            <p:nvPr/>
          </p:nvSpPr>
          <p:spPr>
            <a:xfrm>
              <a:off x="3732848" y="3656171"/>
              <a:ext cx="1926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省份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1" name="Line 131"/>
            <p:cNvSpPr/>
            <p:nvPr/>
          </p:nvSpPr>
          <p:spPr>
            <a:xfrm>
              <a:off x="4646295" y="3614738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32" name="TextBox 132"/>
            <p:cNvSpPr txBox="1"/>
            <p:nvPr/>
          </p:nvSpPr>
          <p:spPr>
            <a:xfrm>
              <a:off x="4698682" y="3656171"/>
              <a:ext cx="37569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选科模式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3" name="Line 133"/>
            <p:cNvSpPr/>
            <p:nvPr/>
          </p:nvSpPr>
          <p:spPr>
            <a:xfrm>
              <a:off x="5291138" y="3614738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34" name="TextBox 134"/>
            <p:cNvSpPr txBox="1"/>
            <p:nvPr/>
          </p:nvSpPr>
          <p:spPr>
            <a:xfrm>
              <a:off x="5343525" y="3656171"/>
              <a:ext cx="37569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试卷类型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5" name="Line 135"/>
            <p:cNvSpPr/>
            <p:nvPr/>
          </p:nvSpPr>
          <p:spPr>
            <a:xfrm>
              <a:off x="5935028" y="3614738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36" name="TextBox 136"/>
            <p:cNvSpPr txBox="1"/>
            <p:nvPr/>
          </p:nvSpPr>
          <p:spPr>
            <a:xfrm>
              <a:off x="5987415" y="3656171"/>
              <a:ext cx="1926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省份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7" name="Line 137"/>
            <p:cNvSpPr/>
            <p:nvPr/>
          </p:nvSpPr>
          <p:spPr>
            <a:xfrm>
              <a:off x="8834438" y="3614738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38" name="TextBox 138"/>
            <p:cNvSpPr txBox="1"/>
            <p:nvPr/>
          </p:nvSpPr>
          <p:spPr>
            <a:xfrm>
              <a:off x="8886825" y="3656171"/>
              <a:ext cx="37569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选科模式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9" name="Line 139"/>
            <p:cNvSpPr/>
            <p:nvPr/>
          </p:nvSpPr>
          <p:spPr>
            <a:xfrm>
              <a:off x="9478328" y="3614738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40" name="TextBox 140"/>
            <p:cNvSpPr txBox="1"/>
            <p:nvPr/>
          </p:nvSpPr>
          <p:spPr>
            <a:xfrm>
              <a:off x="9530715" y="3656171"/>
              <a:ext cx="37569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试卷类型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1" name="Line 141"/>
            <p:cNvSpPr/>
            <p:nvPr/>
          </p:nvSpPr>
          <p:spPr>
            <a:xfrm>
              <a:off x="10122218" y="3614738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42" name="TextBox 142"/>
            <p:cNvSpPr txBox="1"/>
            <p:nvPr/>
          </p:nvSpPr>
          <p:spPr>
            <a:xfrm>
              <a:off x="10174605" y="3656171"/>
              <a:ext cx="1926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省份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3" name="Line 143"/>
            <p:cNvSpPr/>
            <p:nvPr/>
          </p:nvSpPr>
          <p:spPr>
            <a:xfrm>
              <a:off x="10767060" y="3614738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44" name="TextBox 144"/>
            <p:cNvSpPr txBox="1"/>
            <p:nvPr/>
          </p:nvSpPr>
          <p:spPr>
            <a:xfrm>
              <a:off x="10819448" y="3656171"/>
              <a:ext cx="37569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选科模式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5" name="Line 145"/>
            <p:cNvSpPr/>
            <p:nvPr/>
          </p:nvSpPr>
          <p:spPr>
            <a:xfrm>
              <a:off x="781050" y="3748088"/>
              <a:ext cx="10629900" cy="9525"/>
            </a:xfrm>
            <a:custGeom>
              <a:avLst/>
              <a:gdLst/>
              <a:ahLst/>
              <a:cxnLst/>
              <a:rect l="l" t="t" r="r" b="b"/>
              <a:pathLst>
                <a:path w="10629900" h="9525">
                  <a:moveTo>
                    <a:pt x="0" y="0"/>
                  </a:moveTo>
                  <a:lnTo>
                    <a:pt x="10629900" y="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46" name="TextBox 146"/>
            <p:cNvSpPr txBox="1"/>
            <p:nvPr/>
          </p:nvSpPr>
          <p:spPr>
            <a:xfrm>
              <a:off x="833438" y="3789521"/>
              <a:ext cx="471620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新课标Ⅰ卷</a:t>
              </a:r>
              <a:endParaRPr lang="zh-CN" sz="6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7" name="Line 147"/>
            <p:cNvSpPr/>
            <p:nvPr/>
          </p:nvSpPr>
          <p:spPr>
            <a:xfrm>
              <a:off x="3680460" y="3748088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48" name="TextBox 148"/>
            <p:cNvSpPr txBox="1"/>
            <p:nvPr/>
          </p:nvSpPr>
          <p:spPr>
            <a:xfrm>
              <a:off x="3732848" y="3789521"/>
              <a:ext cx="1926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江苏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9" name="Line 149"/>
            <p:cNvSpPr/>
            <p:nvPr/>
          </p:nvSpPr>
          <p:spPr>
            <a:xfrm>
              <a:off x="4646295" y="3748088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50" name="TextBox 150"/>
            <p:cNvSpPr txBox="1"/>
            <p:nvPr/>
          </p:nvSpPr>
          <p:spPr>
            <a:xfrm>
              <a:off x="4698682" y="3789521"/>
              <a:ext cx="26126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3+1+2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1" name="Line 151"/>
            <p:cNvSpPr/>
            <p:nvPr/>
          </p:nvSpPr>
          <p:spPr>
            <a:xfrm>
              <a:off x="5291138" y="3748088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52" name="Line 152"/>
            <p:cNvSpPr/>
            <p:nvPr/>
          </p:nvSpPr>
          <p:spPr>
            <a:xfrm>
              <a:off x="5935028" y="3748088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53" name="TextBox 153"/>
            <p:cNvSpPr txBox="1"/>
            <p:nvPr/>
          </p:nvSpPr>
          <p:spPr>
            <a:xfrm>
              <a:off x="5987415" y="3789521"/>
              <a:ext cx="1926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重庆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4" name="Line 154"/>
            <p:cNvSpPr/>
            <p:nvPr/>
          </p:nvSpPr>
          <p:spPr>
            <a:xfrm>
              <a:off x="8834438" y="3748088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55" name="TextBox 155"/>
            <p:cNvSpPr txBox="1"/>
            <p:nvPr/>
          </p:nvSpPr>
          <p:spPr>
            <a:xfrm>
              <a:off x="8886825" y="3789521"/>
              <a:ext cx="26126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3+1+2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6" name="Line 156"/>
            <p:cNvSpPr/>
            <p:nvPr/>
          </p:nvSpPr>
          <p:spPr>
            <a:xfrm>
              <a:off x="9478328" y="3748088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57" name="TextBox 157"/>
            <p:cNvSpPr txBox="1"/>
            <p:nvPr/>
          </p:nvSpPr>
          <p:spPr>
            <a:xfrm>
              <a:off x="9530715" y="3789521"/>
              <a:ext cx="37569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全国甲卷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8" name="Line 158"/>
            <p:cNvSpPr/>
            <p:nvPr/>
          </p:nvSpPr>
          <p:spPr>
            <a:xfrm>
              <a:off x="10122218" y="3748088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59" name="TextBox 159"/>
            <p:cNvSpPr txBox="1"/>
            <p:nvPr/>
          </p:nvSpPr>
          <p:spPr>
            <a:xfrm>
              <a:off x="10174605" y="3789521"/>
              <a:ext cx="1926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青海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0" name="Line 160"/>
            <p:cNvSpPr/>
            <p:nvPr/>
          </p:nvSpPr>
          <p:spPr>
            <a:xfrm>
              <a:off x="10767060" y="3748088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61" name="TextBox 161"/>
            <p:cNvSpPr txBox="1"/>
            <p:nvPr/>
          </p:nvSpPr>
          <p:spPr>
            <a:xfrm>
              <a:off x="10819448" y="3789521"/>
              <a:ext cx="37569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文理综合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2" name="Line 162"/>
            <p:cNvSpPr/>
            <p:nvPr/>
          </p:nvSpPr>
          <p:spPr>
            <a:xfrm>
              <a:off x="781050" y="3880485"/>
              <a:ext cx="10629900" cy="9525"/>
            </a:xfrm>
            <a:custGeom>
              <a:avLst/>
              <a:gdLst/>
              <a:ahLst/>
              <a:cxnLst/>
              <a:rect l="l" t="t" r="r" b="b"/>
              <a:pathLst>
                <a:path w="10629900" h="9525">
                  <a:moveTo>
                    <a:pt x="0" y="0"/>
                  </a:moveTo>
                  <a:lnTo>
                    <a:pt x="10629900" y="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63" name="Line 163"/>
            <p:cNvSpPr/>
            <p:nvPr/>
          </p:nvSpPr>
          <p:spPr>
            <a:xfrm>
              <a:off x="3680460" y="3880485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64" name="TextBox 164"/>
            <p:cNvSpPr txBox="1"/>
            <p:nvPr/>
          </p:nvSpPr>
          <p:spPr>
            <a:xfrm>
              <a:off x="3732848" y="3921919"/>
              <a:ext cx="1926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湖南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5" name="Line 165"/>
            <p:cNvSpPr/>
            <p:nvPr/>
          </p:nvSpPr>
          <p:spPr>
            <a:xfrm>
              <a:off x="4646295" y="3880485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66" name="TextBox 166"/>
            <p:cNvSpPr txBox="1"/>
            <p:nvPr/>
          </p:nvSpPr>
          <p:spPr>
            <a:xfrm>
              <a:off x="4698682" y="3921919"/>
              <a:ext cx="26126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3+1+2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7" name="Line 167"/>
            <p:cNvSpPr/>
            <p:nvPr/>
          </p:nvSpPr>
          <p:spPr>
            <a:xfrm>
              <a:off x="5291138" y="3880485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68" name="Line 168"/>
            <p:cNvSpPr/>
            <p:nvPr/>
          </p:nvSpPr>
          <p:spPr>
            <a:xfrm>
              <a:off x="5935028" y="3880485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69" name="TextBox 169"/>
            <p:cNvSpPr txBox="1"/>
            <p:nvPr/>
          </p:nvSpPr>
          <p:spPr>
            <a:xfrm>
              <a:off x="5987415" y="3921919"/>
              <a:ext cx="1926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吉林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0" name="Line 170"/>
            <p:cNvSpPr/>
            <p:nvPr/>
          </p:nvSpPr>
          <p:spPr>
            <a:xfrm>
              <a:off x="8834438" y="3880485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71" name="TextBox 171"/>
            <p:cNvSpPr txBox="1"/>
            <p:nvPr/>
          </p:nvSpPr>
          <p:spPr>
            <a:xfrm>
              <a:off x="8886825" y="3921919"/>
              <a:ext cx="26126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3+1+2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2" name="Line 172"/>
            <p:cNvSpPr/>
            <p:nvPr/>
          </p:nvSpPr>
          <p:spPr>
            <a:xfrm>
              <a:off x="9478328" y="3880485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73" name="Line 173"/>
            <p:cNvSpPr/>
            <p:nvPr/>
          </p:nvSpPr>
          <p:spPr>
            <a:xfrm>
              <a:off x="10122218" y="3880485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74" name="TextBox 174"/>
            <p:cNvSpPr txBox="1"/>
            <p:nvPr/>
          </p:nvSpPr>
          <p:spPr>
            <a:xfrm>
              <a:off x="10174605" y="3921919"/>
              <a:ext cx="1926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陕西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5" name="Line 175"/>
            <p:cNvSpPr/>
            <p:nvPr/>
          </p:nvSpPr>
          <p:spPr>
            <a:xfrm>
              <a:off x="10767060" y="3880485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76" name="TextBox 176"/>
            <p:cNvSpPr txBox="1"/>
            <p:nvPr/>
          </p:nvSpPr>
          <p:spPr>
            <a:xfrm>
              <a:off x="10819448" y="3921919"/>
              <a:ext cx="37569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文理综合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7" name="Line 177"/>
            <p:cNvSpPr/>
            <p:nvPr/>
          </p:nvSpPr>
          <p:spPr>
            <a:xfrm>
              <a:off x="781050" y="4013835"/>
              <a:ext cx="10629900" cy="9525"/>
            </a:xfrm>
            <a:custGeom>
              <a:avLst/>
              <a:gdLst/>
              <a:ahLst/>
              <a:cxnLst/>
              <a:rect l="l" t="t" r="r" b="b"/>
              <a:pathLst>
                <a:path w="10629900" h="9525">
                  <a:moveTo>
                    <a:pt x="0" y="0"/>
                  </a:moveTo>
                  <a:lnTo>
                    <a:pt x="10629900" y="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78" name="Line 178"/>
            <p:cNvSpPr/>
            <p:nvPr/>
          </p:nvSpPr>
          <p:spPr>
            <a:xfrm>
              <a:off x="3680460" y="4013835"/>
              <a:ext cx="9525" cy="132398"/>
            </a:xfrm>
            <a:custGeom>
              <a:avLst/>
              <a:gdLst/>
              <a:ahLst/>
              <a:cxnLst/>
              <a:rect l="l" t="t" r="r" b="b"/>
              <a:pathLst>
                <a:path w="9525" h="132398">
                  <a:moveTo>
                    <a:pt x="0" y="0"/>
                  </a:moveTo>
                  <a:lnTo>
                    <a:pt x="0" y="132398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79" name="TextBox 179"/>
            <p:cNvSpPr txBox="1"/>
            <p:nvPr/>
          </p:nvSpPr>
          <p:spPr>
            <a:xfrm>
              <a:off x="3732848" y="4055269"/>
              <a:ext cx="1926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河北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0" name="Line 180"/>
            <p:cNvSpPr/>
            <p:nvPr/>
          </p:nvSpPr>
          <p:spPr>
            <a:xfrm>
              <a:off x="4646295" y="4013835"/>
              <a:ext cx="9525" cy="132398"/>
            </a:xfrm>
            <a:custGeom>
              <a:avLst/>
              <a:gdLst/>
              <a:ahLst/>
              <a:cxnLst/>
              <a:rect l="l" t="t" r="r" b="b"/>
              <a:pathLst>
                <a:path w="9525" h="132398">
                  <a:moveTo>
                    <a:pt x="0" y="0"/>
                  </a:moveTo>
                  <a:lnTo>
                    <a:pt x="0" y="132398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81" name="TextBox 181"/>
            <p:cNvSpPr txBox="1"/>
            <p:nvPr/>
          </p:nvSpPr>
          <p:spPr>
            <a:xfrm>
              <a:off x="4698682" y="4055269"/>
              <a:ext cx="26126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3+1+2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2" name="Line 182"/>
            <p:cNvSpPr/>
            <p:nvPr/>
          </p:nvSpPr>
          <p:spPr>
            <a:xfrm>
              <a:off x="5291138" y="4013835"/>
              <a:ext cx="9525" cy="132398"/>
            </a:xfrm>
            <a:custGeom>
              <a:avLst/>
              <a:gdLst/>
              <a:ahLst/>
              <a:cxnLst/>
              <a:rect l="l" t="t" r="r" b="b"/>
              <a:pathLst>
                <a:path w="9525" h="132398">
                  <a:moveTo>
                    <a:pt x="0" y="0"/>
                  </a:moveTo>
                  <a:lnTo>
                    <a:pt x="0" y="132398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83" name="Line 183"/>
            <p:cNvSpPr/>
            <p:nvPr/>
          </p:nvSpPr>
          <p:spPr>
            <a:xfrm>
              <a:off x="5935028" y="4013835"/>
              <a:ext cx="9525" cy="132398"/>
            </a:xfrm>
            <a:custGeom>
              <a:avLst/>
              <a:gdLst/>
              <a:ahLst/>
              <a:cxnLst/>
              <a:rect l="l" t="t" r="r" b="b"/>
              <a:pathLst>
                <a:path w="9525" h="132398">
                  <a:moveTo>
                    <a:pt x="0" y="0"/>
                  </a:moveTo>
                  <a:lnTo>
                    <a:pt x="0" y="132398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84" name="TextBox 184"/>
            <p:cNvSpPr txBox="1"/>
            <p:nvPr/>
          </p:nvSpPr>
          <p:spPr>
            <a:xfrm>
              <a:off x="5987415" y="4055269"/>
              <a:ext cx="1926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辽宁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5" name="Line 185"/>
            <p:cNvSpPr/>
            <p:nvPr/>
          </p:nvSpPr>
          <p:spPr>
            <a:xfrm>
              <a:off x="8834438" y="4013835"/>
              <a:ext cx="9525" cy="132398"/>
            </a:xfrm>
            <a:custGeom>
              <a:avLst/>
              <a:gdLst/>
              <a:ahLst/>
              <a:cxnLst/>
              <a:rect l="l" t="t" r="r" b="b"/>
              <a:pathLst>
                <a:path w="9525" h="132398">
                  <a:moveTo>
                    <a:pt x="0" y="0"/>
                  </a:moveTo>
                  <a:lnTo>
                    <a:pt x="0" y="132398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86" name="TextBox 186"/>
            <p:cNvSpPr txBox="1"/>
            <p:nvPr/>
          </p:nvSpPr>
          <p:spPr>
            <a:xfrm>
              <a:off x="8886825" y="4055269"/>
              <a:ext cx="26126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3+1+2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7" name="Line 187"/>
            <p:cNvSpPr/>
            <p:nvPr/>
          </p:nvSpPr>
          <p:spPr>
            <a:xfrm>
              <a:off x="9478328" y="4013835"/>
              <a:ext cx="9525" cy="132398"/>
            </a:xfrm>
            <a:custGeom>
              <a:avLst/>
              <a:gdLst/>
              <a:ahLst/>
              <a:cxnLst/>
              <a:rect l="l" t="t" r="r" b="b"/>
              <a:pathLst>
                <a:path w="9525" h="132398">
                  <a:moveTo>
                    <a:pt x="0" y="0"/>
                  </a:moveTo>
                  <a:lnTo>
                    <a:pt x="0" y="132398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88" name="Line 188"/>
            <p:cNvSpPr/>
            <p:nvPr/>
          </p:nvSpPr>
          <p:spPr>
            <a:xfrm>
              <a:off x="10122218" y="4013835"/>
              <a:ext cx="9525" cy="132398"/>
            </a:xfrm>
            <a:custGeom>
              <a:avLst/>
              <a:gdLst/>
              <a:ahLst/>
              <a:cxnLst/>
              <a:rect l="l" t="t" r="r" b="b"/>
              <a:pathLst>
                <a:path w="9525" h="132398">
                  <a:moveTo>
                    <a:pt x="0" y="0"/>
                  </a:moveTo>
                  <a:lnTo>
                    <a:pt x="0" y="132398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89" name="TextBox 189"/>
            <p:cNvSpPr txBox="1"/>
            <p:nvPr/>
          </p:nvSpPr>
          <p:spPr>
            <a:xfrm>
              <a:off x="10174605" y="4055269"/>
              <a:ext cx="1926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宁夏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0" name="Line 190"/>
            <p:cNvSpPr/>
            <p:nvPr/>
          </p:nvSpPr>
          <p:spPr>
            <a:xfrm>
              <a:off x="10767060" y="4013835"/>
              <a:ext cx="9525" cy="132398"/>
            </a:xfrm>
            <a:custGeom>
              <a:avLst/>
              <a:gdLst/>
              <a:ahLst/>
              <a:cxnLst/>
              <a:rect l="l" t="t" r="r" b="b"/>
              <a:pathLst>
                <a:path w="9525" h="132398">
                  <a:moveTo>
                    <a:pt x="0" y="0"/>
                  </a:moveTo>
                  <a:lnTo>
                    <a:pt x="0" y="132398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91" name="TextBox 191"/>
            <p:cNvSpPr txBox="1"/>
            <p:nvPr/>
          </p:nvSpPr>
          <p:spPr>
            <a:xfrm>
              <a:off x="10819448" y="4055269"/>
              <a:ext cx="37569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文理综合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2" name="Line 192"/>
            <p:cNvSpPr/>
            <p:nvPr/>
          </p:nvSpPr>
          <p:spPr>
            <a:xfrm>
              <a:off x="781050" y="4146232"/>
              <a:ext cx="10629900" cy="9525"/>
            </a:xfrm>
            <a:custGeom>
              <a:avLst/>
              <a:gdLst/>
              <a:ahLst/>
              <a:cxnLst/>
              <a:rect l="l" t="t" r="r" b="b"/>
              <a:pathLst>
                <a:path w="10629900" h="9525">
                  <a:moveTo>
                    <a:pt x="0" y="0"/>
                  </a:moveTo>
                  <a:lnTo>
                    <a:pt x="10629900" y="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93" name="Line 193"/>
            <p:cNvSpPr/>
            <p:nvPr/>
          </p:nvSpPr>
          <p:spPr>
            <a:xfrm>
              <a:off x="3680460" y="4146232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94" name="TextBox 194"/>
            <p:cNvSpPr txBox="1"/>
            <p:nvPr/>
          </p:nvSpPr>
          <p:spPr>
            <a:xfrm>
              <a:off x="3732848" y="4187666"/>
              <a:ext cx="1926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安徽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5" name="Line 195"/>
            <p:cNvSpPr/>
            <p:nvPr/>
          </p:nvSpPr>
          <p:spPr>
            <a:xfrm>
              <a:off x="4646295" y="4146232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96" name="TextBox 196"/>
            <p:cNvSpPr txBox="1"/>
            <p:nvPr/>
          </p:nvSpPr>
          <p:spPr>
            <a:xfrm>
              <a:off x="4698682" y="4187666"/>
              <a:ext cx="26126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3+1+2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7" name="Line 197"/>
            <p:cNvSpPr/>
            <p:nvPr/>
          </p:nvSpPr>
          <p:spPr>
            <a:xfrm>
              <a:off x="5291138" y="4146232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98" name="Line 198"/>
            <p:cNvSpPr/>
            <p:nvPr/>
          </p:nvSpPr>
          <p:spPr>
            <a:xfrm>
              <a:off x="5935028" y="4146232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199" name="TextBox 199"/>
            <p:cNvSpPr txBox="1"/>
            <p:nvPr/>
          </p:nvSpPr>
          <p:spPr>
            <a:xfrm>
              <a:off x="5987415" y="4187666"/>
              <a:ext cx="284150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黑龙江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0" name="Line 200"/>
            <p:cNvSpPr/>
            <p:nvPr/>
          </p:nvSpPr>
          <p:spPr>
            <a:xfrm>
              <a:off x="8834438" y="4146232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01" name="TextBox 201"/>
            <p:cNvSpPr txBox="1"/>
            <p:nvPr/>
          </p:nvSpPr>
          <p:spPr>
            <a:xfrm>
              <a:off x="8886825" y="4187666"/>
              <a:ext cx="26126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3+1+2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2" name="Line 202"/>
            <p:cNvSpPr/>
            <p:nvPr/>
          </p:nvSpPr>
          <p:spPr>
            <a:xfrm>
              <a:off x="9478328" y="4146232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03" name="Line 203"/>
            <p:cNvSpPr/>
            <p:nvPr/>
          </p:nvSpPr>
          <p:spPr>
            <a:xfrm>
              <a:off x="10122218" y="4146232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04" name="TextBox 204"/>
            <p:cNvSpPr txBox="1"/>
            <p:nvPr/>
          </p:nvSpPr>
          <p:spPr>
            <a:xfrm>
              <a:off x="10174605" y="4187666"/>
              <a:ext cx="284150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内蒙古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5" name="Line 205"/>
            <p:cNvSpPr/>
            <p:nvPr/>
          </p:nvSpPr>
          <p:spPr>
            <a:xfrm>
              <a:off x="10767060" y="4146232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06" name="TextBox 206"/>
            <p:cNvSpPr txBox="1"/>
            <p:nvPr/>
          </p:nvSpPr>
          <p:spPr>
            <a:xfrm>
              <a:off x="10819448" y="4187666"/>
              <a:ext cx="37569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文理综合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7" name="Line 207"/>
            <p:cNvSpPr/>
            <p:nvPr/>
          </p:nvSpPr>
          <p:spPr>
            <a:xfrm>
              <a:off x="781050" y="4279582"/>
              <a:ext cx="10629900" cy="9525"/>
            </a:xfrm>
            <a:custGeom>
              <a:avLst/>
              <a:gdLst/>
              <a:ahLst/>
              <a:cxnLst/>
              <a:rect l="l" t="t" r="r" b="b"/>
              <a:pathLst>
                <a:path w="10629900" h="9525">
                  <a:moveTo>
                    <a:pt x="0" y="0"/>
                  </a:moveTo>
                  <a:lnTo>
                    <a:pt x="10629900" y="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08" name="Line 208"/>
            <p:cNvSpPr/>
            <p:nvPr/>
          </p:nvSpPr>
          <p:spPr>
            <a:xfrm>
              <a:off x="3680460" y="4279582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09" name="TextBox 209"/>
            <p:cNvSpPr txBox="1"/>
            <p:nvPr/>
          </p:nvSpPr>
          <p:spPr>
            <a:xfrm>
              <a:off x="3732848" y="4321016"/>
              <a:ext cx="1926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福建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0" name="Line 210"/>
            <p:cNvSpPr/>
            <p:nvPr/>
          </p:nvSpPr>
          <p:spPr>
            <a:xfrm>
              <a:off x="4646295" y="4279582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11" name="TextBox 211"/>
            <p:cNvSpPr txBox="1"/>
            <p:nvPr/>
          </p:nvSpPr>
          <p:spPr>
            <a:xfrm>
              <a:off x="4698682" y="4321016"/>
              <a:ext cx="26126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3+1+2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2" name="Line 212"/>
            <p:cNvSpPr/>
            <p:nvPr/>
          </p:nvSpPr>
          <p:spPr>
            <a:xfrm>
              <a:off x="5291138" y="4279582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13" name="Line 213"/>
            <p:cNvSpPr/>
            <p:nvPr/>
          </p:nvSpPr>
          <p:spPr>
            <a:xfrm>
              <a:off x="5935028" y="4279582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14" name="TextBox 214"/>
            <p:cNvSpPr txBox="1"/>
            <p:nvPr/>
          </p:nvSpPr>
          <p:spPr>
            <a:xfrm>
              <a:off x="5987415" y="4321016"/>
              <a:ext cx="1926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贵州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5" name="Line 215"/>
            <p:cNvSpPr/>
            <p:nvPr/>
          </p:nvSpPr>
          <p:spPr>
            <a:xfrm>
              <a:off x="8834438" y="4279582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16" name="TextBox 216"/>
            <p:cNvSpPr txBox="1"/>
            <p:nvPr/>
          </p:nvSpPr>
          <p:spPr>
            <a:xfrm>
              <a:off x="8886825" y="4321016"/>
              <a:ext cx="26126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3+1+2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7" name="Line 217"/>
            <p:cNvSpPr/>
            <p:nvPr/>
          </p:nvSpPr>
          <p:spPr>
            <a:xfrm>
              <a:off x="9478328" y="4279582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18" name="Line 218"/>
            <p:cNvSpPr/>
            <p:nvPr/>
          </p:nvSpPr>
          <p:spPr>
            <a:xfrm>
              <a:off x="10122218" y="4279582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19" name="TextBox 219"/>
            <p:cNvSpPr txBox="1"/>
            <p:nvPr/>
          </p:nvSpPr>
          <p:spPr>
            <a:xfrm>
              <a:off x="10174605" y="4321016"/>
              <a:ext cx="1926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四川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0" name="Line 220"/>
            <p:cNvSpPr/>
            <p:nvPr/>
          </p:nvSpPr>
          <p:spPr>
            <a:xfrm>
              <a:off x="10767060" y="4279582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21" name="TextBox 221"/>
            <p:cNvSpPr txBox="1"/>
            <p:nvPr/>
          </p:nvSpPr>
          <p:spPr>
            <a:xfrm>
              <a:off x="10819448" y="4321016"/>
              <a:ext cx="37569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文理综合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2" name="Line 222"/>
            <p:cNvSpPr/>
            <p:nvPr/>
          </p:nvSpPr>
          <p:spPr>
            <a:xfrm>
              <a:off x="781050" y="4411980"/>
              <a:ext cx="10629900" cy="9525"/>
            </a:xfrm>
            <a:custGeom>
              <a:avLst/>
              <a:gdLst/>
              <a:ahLst/>
              <a:cxnLst/>
              <a:rect l="l" t="t" r="r" b="b"/>
              <a:pathLst>
                <a:path w="10629900" h="9525">
                  <a:moveTo>
                    <a:pt x="0" y="0"/>
                  </a:moveTo>
                  <a:lnTo>
                    <a:pt x="10629900" y="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23" name="Line 223"/>
            <p:cNvSpPr/>
            <p:nvPr/>
          </p:nvSpPr>
          <p:spPr>
            <a:xfrm>
              <a:off x="3680460" y="4411980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24" name="TextBox 224"/>
            <p:cNvSpPr txBox="1"/>
            <p:nvPr/>
          </p:nvSpPr>
          <p:spPr>
            <a:xfrm>
              <a:off x="3732848" y="4453414"/>
              <a:ext cx="1926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山东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5" name="Line 225"/>
            <p:cNvSpPr/>
            <p:nvPr/>
          </p:nvSpPr>
          <p:spPr>
            <a:xfrm>
              <a:off x="4646295" y="4411980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26" name="TextBox 226"/>
            <p:cNvSpPr txBox="1"/>
            <p:nvPr/>
          </p:nvSpPr>
          <p:spPr>
            <a:xfrm>
              <a:off x="4698682" y="4453414"/>
              <a:ext cx="16056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3+3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7" name="Line 227"/>
            <p:cNvSpPr/>
            <p:nvPr/>
          </p:nvSpPr>
          <p:spPr>
            <a:xfrm>
              <a:off x="5291138" y="4411980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28" name="Line 228"/>
            <p:cNvSpPr/>
            <p:nvPr/>
          </p:nvSpPr>
          <p:spPr>
            <a:xfrm>
              <a:off x="5935028" y="4411980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29" name="TextBox 229"/>
            <p:cNvSpPr txBox="1"/>
            <p:nvPr/>
          </p:nvSpPr>
          <p:spPr>
            <a:xfrm>
              <a:off x="5987415" y="4453414"/>
              <a:ext cx="1926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甘肃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0" name="Line 230"/>
            <p:cNvSpPr/>
            <p:nvPr/>
          </p:nvSpPr>
          <p:spPr>
            <a:xfrm>
              <a:off x="8834438" y="4411980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31" name="TextBox 231"/>
            <p:cNvSpPr txBox="1"/>
            <p:nvPr/>
          </p:nvSpPr>
          <p:spPr>
            <a:xfrm>
              <a:off x="8886825" y="4453414"/>
              <a:ext cx="26126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3+1+2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2" name="Line 232"/>
            <p:cNvSpPr/>
            <p:nvPr/>
          </p:nvSpPr>
          <p:spPr>
            <a:xfrm>
              <a:off x="9478328" y="4411980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33" name="Line 233"/>
            <p:cNvSpPr/>
            <p:nvPr/>
          </p:nvSpPr>
          <p:spPr>
            <a:xfrm>
              <a:off x="10122218" y="4411980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34" name="TextBox 234"/>
            <p:cNvSpPr txBox="1"/>
            <p:nvPr/>
          </p:nvSpPr>
          <p:spPr>
            <a:xfrm>
              <a:off x="10174605" y="4453414"/>
              <a:ext cx="1926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西藏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5" name="Line 235"/>
            <p:cNvSpPr/>
            <p:nvPr/>
          </p:nvSpPr>
          <p:spPr>
            <a:xfrm>
              <a:off x="10767060" y="4411980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36" name="TextBox 236"/>
            <p:cNvSpPr txBox="1"/>
            <p:nvPr/>
          </p:nvSpPr>
          <p:spPr>
            <a:xfrm>
              <a:off x="10819448" y="4453414"/>
              <a:ext cx="37569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文理综合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7" name="Line 237"/>
            <p:cNvSpPr/>
            <p:nvPr/>
          </p:nvSpPr>
          <p:spPr>
            <a:xfrm>
              <a:off x="781050" y="4545330"/>
              <a:ext cx="10629900" cy="9525"/>
            </a:xfrm>
            <a:custGeom>
              <a:avLst/>
              <a:gdLst/>
              <a:ahLst/>
              <a:cxnLst/>
              <a:rect l="l" t="t" r="r" b="b"/>
              <a:pathLst>
                <a:path w="10629900" h="9525">
                  <a:moveTo>
                    <a:pt x="0" y="0"/>
                  </a:moveTo>
                  <a:lnTo>
                    <a:pt x="10629900" y="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38" name="Line 238"/>
            <p:cNvSpPr/>
            <p:nvPr/>
          </p:nvSpPr>
          <p:spPr>
            <a:xfrm>
              <a:off x="3680460" y="4545330"/>
              <a:ext cx="9525" cy="132398"/>
            </a:xfrm>
            <a:custGeom>
              <a:avLst/>
              <a:gdLst/>
              <a:ahLst/>
              <a:cxnLst/>
              <a:rect l="l" t="t" r="r" b="b"/>
              <a:pathLst>
                <a:path w="9525" h="132398">
                  <a:moveTo>
                    <a:pt x="0" y="0"/>
                  </a:moveTo>
                  <a:lnTo>
                    <a:pt x="0" y="132398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39" name="TextBox 239"/>
            <p:cNvSpPr txBox="1"/>
            <p:nvPr/>
          </p:nvSpPr>
          <p:spPr>
            <a:xfrm>
              <a:off x="3732848" y="4586764"/>
              <a:ext cx="1926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河南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0" name="Line 240"/>
            <p:cNvSpPr/>
            <p:nvPr/>
          </p:nvSpPr>
          <p:spPr>
            <a:xfrm>
              <a:off x="4646295" y="4545330"/>
              <a:ext cx="9525" cy="132398"/>
            </a:xfrm>
            <a:custGeom>
              <a:avLst/>
              <a:gdLst/>
              <a:ahLst/>
              <a:cxnLst/>
              <a:rect l="l" t="t" r="r" b="b"/>
              <a:pathLst>
                <a:path w="9525" h="132398">
                  <a:moveTo>
                    <a:pt x="0" y="0"/>
                  </a:moveTo>
                  <a:lnTo>
                    <a:pt x="0" y="132398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41" name="TextBox 241"/>
            <p:cNvSpPr txBox="1"/>
            <p:nvPr/>
          </p:nvSpPr>
          <p:spPr>
            <a:xfrm>
              <a:off x="4698682" y="4586764"/>
              <a:ext cx="37569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文理综合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2" name="Line 242"/>
            <p:cNvSpPr/>
            <p:nvPr/>
          </p:nvSpPr>
          <p:spPr>
            <a:xfrm>
              <a:off x="5291138" y="4545330"/>
              <a:ext cx="9525" cy="132398"/>
            </a:xfrm>
            <a:custGeom>
              <a:avLst/>
              <a:gdLst/>
              <a:ahLst/>
              <a:cxnLst/>
              <a:rect l="l" t="t" r="r" b="b"/>
              <a:pathLst>
                <a:path w="9525" h="132398">
                  <a:moveTo>
                    <a:pt x="0" y="0"/>
                  </a:moveTo>
                  <a:lnTo>
                    <a:pt x="0" y="132398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43" name="Line 243"/>
            <p:cNvSpPr/>
            <p:nvPr/>
          </p:nvSpPr>
          <p:spPr>
            <a:xfrm>
              <a:off x="5935028" y="4545330"/>
              <a:ext cx="9525" cy="132398"/>
            </a:xfrm>
            <a:custGeom>
              <a:avLst/>
              <a:gdLst/>
              <a:ahLst/>
              <a:cxnLst/>
              <a:rect l="l" t="t" r="r" b="b"/>
              <a:pathLst>
                <a:path w="9525" h="132398">
                  <a:moveTo>
                    <a:pt x="0" y="0"/>
                  </a:moveTo>
                  <a:lnTo>
                    <a:pt x="0" y="132398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44" name="TextBox 244"/>
            <p:cNvSpPr txBox="1"/>
            <p:nvPr/>
          </p:nvSpPr>
          <p:spPr>
            <a:xfrm>
              <a:off x="5987415" y="4586764"/>
              <a:ext cx="1926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海南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5" name="Line 245"/>
            <p:cNvSpPr/>
            <p:nvPr/>
          </p:nvSpPr>
          <p:spPr>
            <a:xfrm>
              <a:off x="8834438" y="4545330"/>
              <a:ext cx="9525" cy="132398"/>
            </a:xfrm>
            <a:custGeom>
              <a:avLst/>
              <a:gdLst/>
              <a:ahLst/>
              <a:cxnLst/>
              <a:rect l="l" t="t" r="r" b="b"/>
              <a:pathLst>
                <a:path w="9525" h="132398">
                  <a:moveTo>
                    <a:pt x="0" y="0"/>
                  </a:moveTo>
                  <a:lnTo>
                    <a:pt x="0" y="132398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46" name="TextBox 246"/>
            <p:cNvSpPr txBox="1"/>
            <p:nvPr/>
          </p:nvSpPr>
          <p:spPr>
            <a:xfrm>
              <a:off x="8886825" y="4586764"/>
              <a:ext cx="16056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3+3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7" name="Line 247"/>
            <p:cNvSpPr/>
            <p:nvPr/>
          </p:nvSpPr>
          <p:spPr>
            <a:xfrm>
              <a:off x="9478328" y="4545330"/>
              <a:ext cx="9525" cy="132398"/>
            </a:xfrm>
            <a:custGeom>
              <a:avLst/>
              <a:gdLst/>
              <a:ahLst/>
              <a:cxnLst/>
              <a:rect l="l" t="t" r="r" b="b"/>
              <a:pathLst>
                <a:path w="9525" h="132398">
                  <a:moveTo>
                    <a:pt x="0" y="0"/>
                  </a:moveTo>
                  <a:lnTo>
                    <a:pt x="0" y="132398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48" name="TextBox 248"/>
            <p:cNvSpPr txBox="1"/>
            <p:nvPr/>
          </p:nvSpPr>
          <p:spPr>
            <a:xfrm>
              <a:off x="9530715" y="4586764"/>
              <a:ext cx="284150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北京卷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9" name="Line 249"/>
            <p:cNvSpPr/>
            <p:nvPr/>
          </p:nvSpPr>
          <p:spPr>
            <a:xfrm>
              <a:off x="10122218" y="4545330"/>
              <a:ext cx="9525" cy="132398"/>
            </a:xfrm>
            <a:custGeom>
              <a:avLst/>
              <a:gdLst/>
              <a:ahLst/>
              <a:cxnLst/>
              <a:rect l="l" t="t" r="r" b="b"/>
              <a:pathLst>
                <a:path w="9525" h="132398">
                  <a:moveTo>
                    <a:pt x="0" y="0"/>
                  </a:moveTo>
                  <a:lnTo>
                    <a:pt x="0" y="132398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50" name="TextBox 250"/>
            <p:cNvSpPr txBox="1"/>
            <p:nvPr/>
          </p:nvSpPr>
          <p:spPr>
            <a:xfrm>
              <a:off x="10174605" y="4586764"/>
              <a:ext cx="1926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北京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1" name="Line 251"/>
            <p:cNvSpPr/>
            <p:nvPr/>
          </p:nvSpPr>
          <p:spPr>
            <a:xfrm>
              <a:off x="10767060" y="4545330"/>
              <a:ext cx="9525" cy="132398"/>
            </a:xfrm>
            <a:custGeom>
              <a:avLst/>
              <a:gdLst/>
              <a:ahLst/>
              <a:cxnLst/>
              <a:rect l="l" t="t" r="r" b="b"/>
              <a:pathLst>
                <a:path w="9525" h="132398">
                  <a:moveTo>
                    <a:pt x="0" y="0"/>
                  </a:moveTo>
                  <a:lnTo>
                    <a:pt x="0" y="132398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52" name="TextBox 252"/>
            <p:cNvSpPr txBox="1"/>
            <p:nvPr/>
          </p:nvSpPr>
          <p:spPr>
            <a:xfrm>
              <a:off x="10819448" y="4586764"/>
              <a:ext cx="16056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3+3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3" name="Line 253"/>
            <p:cNvSpPr/>
            <p:nvPr/>
          </p:nvSpPr>
          <p:spPr>
            <a:xfrm>
              <a:off x="781050" y="4677728"/>
              <a:ext cx="10629900" cy="9525"/>
            </a:xfrm>
            <a:custGeom>
              <a:avLst/>
              <a:gdLst/>
              <a:ahLst/>
              <a:cxnLst/>
              <a:rect l="l" t="t" r="r" b="b"/>
              <a:pathLst>
                <a:path w="10629900" h="9525">
                  <a:moveTo>
                    <a:pt x="0" y="0"/>
                  </a:moveTo>
                  <a:lnTo>
                    <a:pt x="10629900" y="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54" name="Line 254"/>
            <p:cNvSpPr/>
            <p:nvPr/>
          </p:nvSpPr>
          <p:spPr>
            <a:xfrm>
              <a:off x="3680460" y="4677728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55" name="TextBox 255"/>
            <p:cNvSpPr txBox="1"/>
            <p:nvPr/>
          </p:nvSpPr>
          <p:spPr>
            <a:xfrm>
              <a:off x="3732848" y="4719161"/>
              <a:ext cx="1926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湖北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6" name="Line 256"/>
            <p:cNvSpPr/>
            <p:nvPr/>
          </p:nvSpPr>
          <p:spPr>
            <a:xfrm>
              <a:off x="4646295" y="4677728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57" name="TextBox 257"/>
            <p:cNvSpPr txBox="1"/>
            <p:nvPr/>
          </p:nvSpPr>
          <p:spPr>
            <a:xfrm>
              <a:off x="4698682" y="4719161"/>
              <a:ext cx="26126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3+1+2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8" name="Line 258"/>
            <p:cNvSpPr/>
            <p:nvPr/>
          </p:nvSpPr>
          <p:spPr>
            <a:xfrm>
              <a:off x="5291138" y="4677728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59" name="Line 259"/>
            <p:cNvSpPr/>
            <p:nvPr/>
          </p:nvSpPr>
          <p:spPr>
            <a:xfrm>
              <a:off x="5935028" y="4677728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60" name="TextBox 260"/>
            <p:cNvSpPr txBox="1"/>
            <p:nvPr/>
          </p:nvSpPr>
          <p:spPr>
            <a:xfrm>
              <a:off x="5987415" y="4719161"/>
              <a:ext cx="1926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广西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1" name="Line 261"/>
            <p:cNvSpPr/>
            <p:nvPr/>
          </p:nvSpPr>
          <p:spPr>
            <a:xfrm>
              <a:off x="8834438" y="4677728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62" name="TextBox 262"/>
            <p:cNvSpPr txBox="1"/>
            <p:nvPr/>
          </p:nvSpPr>
          <p:spPr>
            <a:xfrm>
              <a:off x="8886825" y="4719161"/>
              <a:ext cx="26126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3+1+2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3" name="Line 263"/>
            <p:cNvSpPr/>
            <p:nvPr/>
          </p:nvSpPr>
          <p:spPr>
            <a:xfrm>
              <a:off x="9478328" y="4677728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64" name="TextBox 264"/>
            <p:cNvSpPr txBox="1"/>
            <p:nvPr/>
          </p:nvSpPr>
          <p:spPr>
            <a:xfrm>
              <a:off x="9530715" y="4719161"/>
              <a:ext cx="284150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上海卷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5" name="Line 265"/>
            <p:cNvSpPr/>
            <p:nvPr/>
          </p:nvSpPr>
          <p:spPr>
            <a:xfrm>
              <a:off x="10122218" y="4677728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66" name="TextBox 266"/>
            <p:cNvSpPr txBox="1"/>
            <p:nvPr/>
          </p:nvSpPr>
          <p:spPr>
            <a:xfrm>
              <a:off x="10174605" y="4719161"/>
              <a:ext cx="1926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上海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7" name="Line 267"/>
            <p:cNvSpPr/>
            <p:nvPr/>
          </p:nvSpPr>
          <p:spPr>
            <a:xfrm>
              <a:off x="10767060" y="4677728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68" name="TextBox 268"/>
            <p:cNvSpPr txBox="1"/>
            <p:nvPr/>
          </p:nvSpPr>
          <p:spPr>
            <a:xfrm>
              <a:off x="10819448" y="4719161"/>
              <a:ext cx="16056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3+3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9" name="Line 269"/>
            <p:cNvSpPr/>
            <p:nvPr/>
          </p:nvSpPr>
          <p:spPr>
            <a:xfrm>
              <a:off x="781050" y="4811078"/>
              <a:ext cx="10629900" cy="9525"/>
            </a:xfrm>
            <a:custGeom>
              <a:avLst/>
              <a:gdLst/>
              <a:ahLst/>
              <a:cxnLst/>
              <a:rect l="l" t="t" r="r" b="b"/>
              <a:pathLst>
                <a:path w="10629900" h="9525">
                  <a:moveTo>
                    <a:pt x="0" y="0"/>
                  </a:moveTo>
                  <a:lnTo>
                    <a:pt x="10629900" y="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70" name="Line 270"/>
            <p:cNvSpPr/>
            <p:nvPr/>
          </p:nvSpPr>
          <p:spPr>
            <a:xfrm>
              <a:off x="3680460" y="4811078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71" name="TextBox 271"/>
            <p:cNvSpPr txBox="1"/>
            <p:nvPr/>
          </p:nvSpPr>
          <p:spPr>
            <a:xfrm>
              <a:off x="3732848" y="4852511"/>
              <a:ext cx="1926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广东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2" name="Line 272"/>
            <p:cNvSpPr/>
            <p:nvPr/>
          </p:nvSpPr>
          <p:spPr>
            <a:xfrm>
              <a:off x="4646295" y="4811078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73" name="TextBox 273"/>
            <p:cNvSpPr txBox="1"/>
            <p:nvPr/>
          </p:nvSpPr>
          <p:spPr>
            <a:xfrm>
              <a:off x="4698682" y="4852511"/>
              <a:ext cx="26126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3+1+2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4" name="Line 274"/>
            <p:cNvSpPr/>
            <p:nvPr/>
          </p:nvSpPr>
          <p:spPr>
            <a:xfrm>
              <a:off x="5291138" y="4811078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75" name="Line 275"/>
            <p:cNvSpPr/>
            <p:nvPr/>
          </p:nvSpPr>
          <p:spPr>
            <a:xfrm>
              <a:off x="5935028" y="4811078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76" name="TextBox 276"/>
            <p:cNvSpPr txBox="1"/>
            <p:nvPr/>
          </p:nvSpPr>
          <p:spPr>
            <a:xfrm>
              <a:off x="5987415" y="4852511"/>
              <a:ext cx="1926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山西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7" name="Line 277"/>
            <p:cNvSpPr/>
            <p:nvPr/>
          </p:nvSpPr>
          <p:spPr>
            <a:xfrm>
              <a:off x="8834438" y="4811078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78" name="TextBox 278"/>
            <p:cNvSpPr txBox="1"/>
            <p:nvPr/>
          </p:nvSpPr>
          <p:spPr>
            <a:xfrm>
              <a:off x="8886825" y="4852511"/>
              <a:ext cx="37569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文理综合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9" name="Line 279"/>
            <p:cNvSpPr/>
            <p:nvPr/>
          </p:nvSpPr>
          <p:spPr>
            <a:xfrm>
              <a:off x="9478328" y="4811078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80" name="TextBox 280"/>
            <p:cNvSpPr txBox="1"/>
            <p:nvPr/>
          </p:nvSpPr>
          <p:spPr>
            <a:xfrm>
              <a:off x="9530715" y="4852511"/>
              <a:ext cx="284150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天津卷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1" name="Line 281"/>
            <p:cNvSpPr/>
            <p:nvPr/>
          </p:nvSpPr>
          <p:spPr>
            <a:xfrm>
              <a:off x="10122218" y="4811078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82" name="TextBox 282"/>
            <p:cNvSpPr txBox="1"/>
            <p:nvPr/>
          </p:nvSpPr>
          <p:spPr>
            <a:xfrm>
              <a:off x="10174605" y="4852511"/>
              <a:ext cx="1926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天津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3" name="Line 283"/>
            <p:cNvSpPr/>
            <p:nvPr/>
          </p:nvSpPr>
          <p:spPr>
            <a:xfrm>
              <a:off x="10767060" y="4811078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84" name="TextBox 284"/>
            <p:cNvSpPr txBox="1"/>
            <p:nvPr/>
          </p:nvSpPr>
          <p:spPr>
            <a:xfrm>
              <a:off x="10819448" y="4852511"/>
              <a:ext cx="16056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3+3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5" name="Line 285"/>
            <p:cNvSpPr/>
            <p:nvPr/>
          </p:nvSpPr>
          <p:spPr>
            <a:xfrm>
              <a:off x="781050" y="4943475"/>
              <a:ext cx="10629900" cy="9525"/>
            </a:xfrm>
            <a:custGeom>
              <a:avLst/>
              <a:gdLst/>
              <a:ahLst/>
              <a:cxnLst/>
              <a:rect l="l" t="t" r="r" b="b"/>
              <a:pathLst>
                <a:path w="10629900" h="9525">
                  <a:moveTo>
                    <a:pt x="0" y="0"/>
                  </a:moveTo>
                  <a:lnTo>
                    <a:pt x="10629900" y="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86" name="Line 286"/>
            <p:cNvSpPr/>
            <p:nvPr/>
          </p:nvSpPr>
          <p:spPr>
            <a:xfrm>
              <a:off x="3680460" y="4943475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87" name="TextBox 287"/>
            <p:cNvSpPr txBox="1"/>
            <p:nvPr/>
          </p:nvSpPr>
          <p:spPr>
            <a:xfrm>
              <a:off x="3732848" y="4984909"/>
              <a:ext cx="1926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浙江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8" name="Line 288"/>
            <p:cNvSpPr/>
            <p:nvPr/>
          </p:nvSpPr>
          <p:spPr>
            <a:xfrm>
              <a:off x="4646295" y="4943475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89" name="TextBox 289"/>
            <p:cNvSpPr txBox="1"/>
            <p:nvPr/>
          </p:nvSpPr>
          <p:spPr>
            <a:xfrm>
              <a:off x="4698682" y="4984909"/>
              <a:ext cx="16056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3+3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0" name="Line 290"/>
            <p:cNvSpPr/>
            <p:nvPr/>
          </p:nvSpPr>
          <p:spPr>
            <a:xfrm>
              <a:off x="5291138" y="4943475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91" name="Line 291"/>
            <p:cNvSpPr/>
            <p:nvPr/>
          </p:nvSpPr>
          <p:spPr>
            <a:xfrm>
              <a:off x="5935028" y="4943475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92" name="TextBox 292"/>
            <p:cNvSpPr txBox="1"/>
            <p:nvPr/>
          </p:nvSpPr>
          <p:spPr>
            <a:xfrm>
              <a:off x="5987415" y="4984909"/>
              <a:ext cx="1926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云南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3" name="Line 293"/>
            <p:cNvSpPr/>
            <p:nvPr/>
          </p:nvSpPr>
          <p:spPr>
            <a:xfrm>
              <a:off x="8834438" y="4943475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94" name="TextBox 294"/>
            <p:cNvSpPr txBox="1"/>
            <p:nvPr/>
          </p:nvSpPr>
          <p:spPr>
            <a:xfrm>
              <a:off x="8886825" y="4984909"/>
              <a:ext cx="37569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文理综合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5" name="Line 295"/>
            <p:cNvSpPr/>
            <p:nvPr/>
          </p:nvSpPr>
          <p:spPr>
            <a:xfrm>
              <a:off x="9478328" y="4943475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96" name="Line 296"/>
            <p:cNvSpPr/>
            <p:nvPr/>
          </p:nvSpPr>
          <p:spPr>
            <a:xfrm>
              <a:off x="10122218" y="4943475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97" name="Line 297"/>
            <p:cNvSpPr/>
            <p:nvPr/>
          </p:nvSpPr>
          <p:spPr>
            <a:xfrm>
              <a:off x="10767060" y="4943475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98" name="Line 298"/>
            <p:cNvSpPr/>
            <p:nvPr/>
          </p:nvSpPr>
          <p:spPr>
            <a:xfrm>
              <a:off x="781050" y="5076825"/>
              <a:ext cx="10629900" cy="9525"/>
            </a:xfrm>
            <a:custGeom>
              <a:avLst/>
              <a:gdLst/>
              <a:ahLst/>
              <a:cxnLst/>
              <a:rect l="l" t="t" r="r" b="b"/>
              <a:pathLst>
                <a:path w="10629900" h="9525">
                  <a:moveTo>
                    <a:pt x="0" y="0"/>
                  </a:moveTo>
                  <a:lnTo>
                    <a:pt x="10629900" y="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299" name="Line 299"/>
            <p:cNvSpPr/>
            <p:nvPr/>
          </p:nvSpPr>
          <p:spPr>
            <a:xfrm>
              <a:off x="3680460" y="5076825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00" name="Line 300"/>
            <p:cNvSpPr/>
            <p:nvPr/>
          </p:nvSpPr>
          <p:spPr>
            <a:xfrm>
              <a:off x="4646295" y="5076825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01" name="TextBox 301"/>
            <p:cNvSpPr txBox="1"/>
            <p:nvPr/>
          </p:nvSpPr>
          <p:spPr>
            <a:xfrm>
              <a:off x="4698682" y="5118259"/>
              <a:ext cx="26126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3+1+2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2" name="Line 302"/>
            <p:cNvSpPr/>
            <p:nvPr/>
          </p:nvSpPr>
          <p:spPr>
            <a:xfrm>
              <a:off x="5291138" y="5076825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03" name="Line 303"/>
            <p:cNvSpPr/>
            <p:nvPr/>
          </p:nvSpPr>
          <p:spPr>
            <a:xfrm>
              <a:off x="5935028" y="5076825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04" name="TextBox 304"/>
            <p:cNvSpPr txBox="1"/>
            <p:nvPr/>
          </p:nvSpPr>
          <p:spPr>
            <a:xfrm>
              <a:off x="5987415" y="5118259"/>
              <a:ext cx="1926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新疆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5" name="Line 305"/>
            <p:cNvSpPr/>
            <p:nvPr/>
          </p:nvSpPr>
          <p:spPr>
            <a:xfrm>
              <a:off x="8834438" y="5076825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06" name="Line 306"/>
            <p:cNvSpPr/>
            <p:nvPr/>
          </p:nvSpPr>
          <p:spPr>
            <a:xfrm>
              <a:off x="9478328" y="5076825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07" name="Line 307"/>
            <p:cNvSpPr/>
            <p:nvPr/>
          </p:nvSpPr>
          <p:spPr>
            <a:xfrm>
              <a:off x="10122218" y="5076825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08" name="Line 308"/>
            <p:cNvSpPr/>
            <p:nvPr/>
          </p:nvSpPr>
          <p:spPr>
            <a:xfrm>
              <a:off x="10767060" y="5076825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09" name="Line 309"/>
            <p:cNvSpPr/>
            <p:nvPr/>
          </p:nvSpPr>
          <p:spPr>
            <a:xfrm>
              <a:off x="781050" y="5209222"/>
              <a:ext cx="10629900" cy="9525"/>
            </a:xfrm>
            <a:custGeom>
              <a:avLst/>
              <a:gdLst/>
              <a:ahLst/>
              <a:cxnLst/>
              <a:rect l="l" t="t" r="r" b="b"/>
              <a:pathLst>
                <a:path w="10629900" h="9525">
                  <a:moveTo>
                    <a:pt x="0" y="0"/>
                  </a:moveTo>
                  <a:lnTo>
                    <a:pt x="10629900" y="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10" name="TextBox 310"/>
            <p:cNvSpPr txBox="1"/>
            <p:nvPr/>
          </p:nvSpPr>
          <p:spPr>
            <a:xfrm>
              <a:off x="833438" y="5250656"/>
              <a:ext cx="47570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数据模块 3</a:t>
              </a:r>
              <a:endParaRPr lang="zh-CN" sz="6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1" name="Line 311"/>
            <p:cNvSpPr/>
            <p:nvPr/>
          </p:nvSpPr>
          <p:spPr>
            <a:xfrm>
              <a:off x="3680460" y="5209222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12" name="Line 312"/>
            <p:cNvSpPr/>
            <p:nvPr/>
          </p:nvSpPr>
          <p:spPr>
            <a:xfrm>
              <a:off x="4646295" y="5209222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13" name="Line 313"/>
            <p:cNvSpPr/>
            <p:nvPr/>
          </p:nvSpPr>
          <p:spPr>
            <a:xfrm>
              <a:off x="5291138" y="5209222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14" name="Line 314"/>
            <p:cNvSpPr/>
            <p:nvPr/>
          </p:nvSpPr>
          <p:spPr>
            <a:xfrm>
              <a:off x="5935028" y="5209222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15" name="Line 315"/>
            <p:cNvSpPr/>
            <p:nvPr/>
          </p:nvSpPr>
          <p:spPr>
            <a:xfrm>
              <a:off x="8834438" y="5209222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16" name="Line 316"/>
            <p:cNvSpPr/>
            <p:nvPr/>
          </p:nvSpPr>
          <p:spPr>
            <a:xfrm>
              <a:off x="9478328" y="5209222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17" name="Line 317"/>
            <p:cNvSpPr/>
            <p:nvPr/>
          </p:nvSpPr>
          <p:spPr>
            <a:xfrm>
              <a:off x="10122218" y="5209222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18" name="Line 318"/>
            <p:cNvSpPr/>
            <p:nvPr/>
          </p:nvSpPr>
          <p:spPr>
            <a:xfrm>
              <a:off x="10767060" y="5209222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19" name="Line 319"/>
            <p:cNvSpPr/>
            <p:nvPr/>
          </p:nvSpPr>
          <p:spPr>
            <a:xfrm>
              <a:off x="781050" y="5342572"/>
              <a:ext cx="10629900" cy="9525"/>
            </a:xfrm>
            <a:custGeom>
              <a:avLst/>
              <a:gdLst/>
              <a:ahLst/>
              <a:cxnLst/>
              <a:rect l="l" t="t" r="r" b="b"/>
              <a:pathLst>
                <a:path w="10629900" h="9525">
                  <a:moveTo>
                    <a:pt x="0" y="0"/>
                  </a:moveTo>
                  <a:lnTo>
                    <a:pt x="10629900" y="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20" name="TextBox 320"/>
            <p:cNvSpPr txBox="1"/>
            <p:nvPr/>
          </p:nvSpPr>
          <p:spPr>
            <a:xfrm>
              <a:off x="833438" y="5384006"/>
              <a:ext cx="16812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750</a:t>
              </a:r>
              <a:endParaRPr lang="zh-CN" sz="6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1" name="Line 321"/>
            <p:cNvSpPr/>
            <p:nvPr/>
          </p:nvSpPr>
          <p:spPr>
            <a:xfrm>
              <a:off x="3680460" y="5342572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22" name="TextBox 322"/>
            <p:cNvSpPr txBox="1"/>
            <p:nvPr/>
          </p:nvSpPr>
          <p:spPr>
            <a:xfrm>
              <a:off x="3732848" y="5384006"/>
              <a:ext cx="558775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（高考总分）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3" name="Line 323"/>
            <p:cNvSpPr/>
            <p:nvPr/>
          </p:nvSpPr>
          <p:spPr>
            <a:xfrm>
              <a:off x="4646295" y="5342572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24" name="Line 324"/>
            <p:cNvSpPr/>
            <p:nvPr/>
          </p:nvSpPr>
          <p:spPr>
            <a:xfrm>
              <a:off x="5291138" y="5342572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25" name="Line 325"/>
            <p:cNvSpPr/>
            <p:nvPr/>
          </p:nvSpPr>
          <p:spPr>
            <a:xfrm>
              <a:off x="5935028" y="5342572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26" name="Line 326"/>
            <p:cNvSpPr/>
            <p:nvPr/>
          </p:nvSpPr>
          <p:spPr>
            <a:xfrm>
              <a:off x="8834438" y="5342572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27" name="Line 327"/>
            <p:cNvSpPr/>
            <p:nvPr/>
          </p:nvSpPr>
          <p:spPr>
            <a:xfrm>
              <a:off x="9478328" y="5342572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28" name="Line 328"/>
            <p:cNvSpPr/>
            <p:nvPr/>
          </p:nvSpPr>
          <p:spPr>
            <a:xfrm>
              <a:off x="10122218" y="5342572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29" name="Line 329"/>
            <p:cNvSpPr/>
            <p:nvPr/>
          </p:nvSpPr>
          <p:spPr>
            <a:xfrm>
              <a:off x="10767060" y="5342572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30" name="Line 330"/>
            <p:cNvSpPr/>
            <p:nvPr/>
          </p:nvSpPr>
          <p:spPr>
            <a:xfrm>
              <a:off x="781050" y="5475922"/>
              <a:ext cx="10629900" cy="9525"/>
            </a:xfrm>
            <a:custGeom>
              <a:avLst/>
              <a:gdLst/>
              <a:ahLst/>
              <a:cxnLst/>
              <a:rect l="l" t="t" r="r" b="b"/>
              <a:pathLst>
                <a:path w="10629900" h="9525">
                  <a:moveTo>
                    <a:pt x="0" y="0"/>
                  </a:moveTo>
                  <a:lnTo>
                    <a:pt x="10629900" y="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31" name="TextBox 331"/>
            <p:cNvSpPr txBox="1"/>
            <p:nvPr/>
          </p:nvSpPr>
          <p:spPr>
            <a:xfrm>
              <a:off x="833438" y="5517356"/>
              <a:ext cx="16812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450</a:t>
              </a:r>
              <a:endParaRPr lang="zh-CN" sz="6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2" name="Line 332"/>
            <p:cNvSpPr/>
            <p:nvPr/>
          </p:nvSpPr>
          <p:spPr>
            <a:xfrm>
              <a:off x="3680460" y="5475922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33" name="TextBox 333"/>
            <p:cNvSpPr txBox="1"/>
            <p:nvPr/>
          </p:nvSpPr>
          <p:spPr>
            <a:xfrm>
              <a:off x="3732848" y="5517356"/>
              <a:ext cx="46723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（原始分）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4" name="Line 334"/>
            <p:cNvSpPr/>
            <p:nvPr/>
          </p:nvSpPr>
          <p:spPr>
            <a:xfrm>
              <a:off x="4646295" y="5475922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35" name="Line 335"/>
            <p:cNvSpPr/>
            <p:nvPr/>
          </p:nvSpPr>
          <p:spPr>
            <a:xfrm>
              <a:off x="5291138" y="5475922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36" name="Line 336"/>
            <p:cNvSpPr/>
            <p:nvPr/>
          </p:nvSpPr>
          <p:spPr>
            <a:xfrm>
              <a:off x="5935028" y="5475922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37" name="Line 337"/>
            <p:cNvSpPr/>
            <p:nvPr/>
          </p:nvSpPr>
          <p:spPr>
            <a:xfrm>
              <a:off x="8834438" y="5475922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38" name="Line 338"/>
            <p:cNvSpPr/>
            <p:nvPr/>
          </p:nvSpPr>
          <p:spPr>
            <a:xfrm>
              <a:off x="9478328" y="5475922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39" name="Line 339"/>
            <p:cNvSpPr/>
            <p:nvPr/>
          </p:nvSpPr>
          <p:spPr>
            <a:xfrm>
              <a:off x="10122218" y="5475922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40" name="Line 340"/>
            <p:cNvSpPr/>
            <p:nvPr/>
          </p:nvSpPr>
          <p:spPr>
            <a:xfrm>
              <a:off x="10767060" y="5475922"/>
              <a:ext cx="9525" cy="132397"/>
            </a:xfrm>
            <a:custGeom>
              <a:avLst/>
              <a:gdLst/>
              <a:ahLst/>
              <a:cxnLst/>
              <a:rect l="l" t="t" r="r" b="b"/>
              <a:pathLst>
                <a:path w="9525" h="132397">
                  <a:moveTo>
                    <a:pt x="0" y="0"/>
                  </a:moveTo>
                  <a:lnTo>
                    <a:pt x="0" y="132397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41" name="Line 341"/>
            <p:cNvSpPr/>
            <p:nvPr/>
          </p:nvSpPr>
          <p:spPr>
            <a:xfrm>
              <a:off x="781050" y="5608320"/>
              <a:ext cx="10629900" cy="9525"/>
            </a:xfrm>
            <a:custGeom>
              <a:avLst/>
              <a:gdLst/>
              <a:ahLst/>
              <a:cxnLst/>
              <a:rect l="l" t="t" r="r" b="b"/>
              <a:pathLst>
                <a:path w="10629900" h="9525">
                  <a:moveTo>
                    <a:pt x="0" y="0"/>
                  </a:moveTo>
                  <a:lnTo>
                    <a:pt x="10629900" y="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42" name="TextBox 342"/>
            <p:cNvSpPr txBox="1"/>
            <p:nvPr/>
          </p:nvSpPr>
          <p:spPr>
            <a:xfrm>
              <a:off x="833438" y="5649754"/>
              <a:ext cx="16812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100</a:t>
              </a:r>
              <a:endParaRPr lang="zh-CN" sz="6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3" name="Line 343"/>
            <p:cNvSpPr/>
            <p:nvPr/>
          </p:nvSpPr>
          <p:spPr>
            <a:xfrm>
              <a:off x="3680460" y="5608320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44" name="TextBox 344"/>
            <p:cNvSpPr txBox="1"/>
            <p:nvPr/>
          </p:nvSpPr>
          <p:spPr>
            <a:xfrm>
              <a:off x="3732848" y="5649754"/>
              <a:ext cx="46723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（原始分）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5" name="Line 345"/>
            <p:cNvSpPr/>
            <p:nvPr/>
          </p:nvSpPr>
          <p:spPr>
            <a:xfrm>
              <a:off x="4646295" y="5608320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46" name="Line 346"/>
            <p:cNvSpPr/>
            <p:nvPr/>
          </p:nvSpPr>
          <p:spPr>
            <a:xfrm>
              <a:off x="5291138" y="5608320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47" name="Line 347"/>
            <p:cNvSpPr/>
            <p:nvPr/>
          </p:nvSpPr>
          <p:spPr>
            <a:xfrm>
              <a:off x="5935028" y="5608320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48" name="Line 348"/>
            <p:cNvSpPr/>
            <p:nvPr/>
          </p:nvSpPr>
          <p:spPr>
            <a:xfrm>
              <a:off x="8834438" y="5608320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49" name="Line 349"/>
            <p:cNvSpPr/>
            <p:nvPr/>
          </p:nvSpPr>
          <p:spPr>
            <a:xfrm>
              <a:off x="9478328" y="5608320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50" name="Line 350"/>
            <p:cNvSpPr/>
            <p:nvPr/>
          </p:nvSpPr>
          <p:spPr>
            <a:xfrm>
              <a:off x="10122218" y="5608320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51" name="Line 351"/>
            <p:cNvSpPr/>
            <p:nvPr/>
          </p:nvSpPr>
          <p:spPr>
            <a:xfrm>
              <a:off x="10767060" y="5608320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52" name="Line 352"/>
            <p:cNvSpPr/>
            <p:nvPr/>
          </p:nvSpPr>
          <p:spPr>
            <a:xfrm>
              <a:off x="781050" y="5741670"/>
              <a:ext cx="10629900" cy="9525"/>
            </a:xfrm>
            <a:custGeom>
              <a:avLst/>
              <a:gdLst/>
              <a:ahLst/>
              <a:cxnLst/>
              <a:rect l="l" t="t" r="r" b="b"/>
              <a:pathLst>
                <a:path w="10629900" h="9525">
                  <a:moveTo>
                    <a:pt x="0" y="0"/>
                  </a:moveTo>
                  <a:lnTo>
                    <a:pt x="10629900" y="0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53" name="TextBox 353"/>
            <p:cNvSpPr txBox="1"/>
            <p:nvPr/>
          </p:nvSpPr>
          <p:spPr>
            <a:xfrm>
              <a:off x="833438" y="5783104"/>
              <a:ext cx="16812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200</a:t>
              </a:r>
              <a:endParaRPr lang="zh-CN" sz="6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4" name="Line 354"/>
            <p:cNvSpPr/>
            <p:nvPr/>
          </p:nvSpPr>
          <p:spPr>
            <a:xfrm>
              <a:off x="3680460" y="5741670"/>
              <a:ext cx="9525" cy="132398"/>
            </a:xfrm>
            <a:custGeom>
              <a:avLst/>
              <a:gdLst/>
              <a:ahLst/>
              <a:cxnLst/>
              <a:rect l="l" t="t" r="r" b="b"/>
              <a:pathLst>
                <a:path w="9525" h="132398">
                  <a:moveTo>
                    <a:pt x="0" y="0"/>
                  </a:moveTo>
                  <a:lnTo>
                    <a:pt x="0" y="132398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55" name="TextBox 355"/>
            <p:cNvSpPr txBox="1"/>
            <p:nvPr/>
          </p:nvSpPr>
          <p:spPr>
            <a:xfrm>
              <a:off x="3732848" y="5783104"/>
              <a:ext cx="37569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（赋分）</a:t>
              </a:r>
              <a:endParaRPr lang="zh-CN" sz="6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6" name="Line 356"/>
            <p:cNvSpPr/>
            <p:nvPr/>
          </p:nvSpPr>
          <p:spPr>
            <a:xfrm>
              <a:off x="4646295" y="5741670"/>
              <a:ext cx="9525" cy="132398"/>
            </a:xfrm>
            <a:custGeom>
              <a:avLst/>
              <a:gdLst/>
              <a:ahLst/>
              <a:cxnLst/>
              <a:rect l="l" t="t" r="r" b="b"/>
              <a:pathLst>
                <a:path w="9525" h="132398">
                  <a:moveTo>
                    <a:pt x="0" y="0"/>
                  </a:moveTo>
                  <a:lnTo>
                    <a:pt x="0" y="132398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57" name="Line 357"/>
            <p:cNvSpPr/>
            <p:nvPr/>
          </p:nvSpPr>
          <p:spPr>
            <a:xfrm>
              <a:off x="5291138" y="5741670"/>
              <a:ext cx="9525" cy="132398"/>
            </a:xfrm>
            <a:custGeom>
              <a:avLst/>
              <a:gdLst/>
              <a:ahLst/>
              <a:cxnLst/>
              <a:rect l="l" t="t" r="r" b="b"/>
              <a:pathLst>
                <a:path w="9525" h="132398">
                  <a:moveTo>
                    <a:pt x="0" y="0"/>
                  </a:moveTo>
                  <a:lnTo>
                    <a:pt x="0" y="132398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58" name="Line 358"/>
            <p:cNvSpPr/>
            <p:nvPr/>
          </p:nvSpPr>
          <p:spPr>
            <a:xfrm>
              <a:off x="5935028" y="5741670"/>
              <a:ext cx="9525" cy="132398"/>
            </a:xfrm>
            <a:custGeom>
              <a:avLst/>
              <a:gdLst/>
              <a:ahLst/>
              <a:cxnLst/>
              <a:rect l="l" t="t" r="r" b="b"/>
              <a:pathLst>
                <a:path w="9525" h="132398">
                  <a:moveTo>
                    <a:pt x="0" y="0"/>
                  </a:moveTo>
                  <a:lnTo>
                    <a:pt x="0" y="132398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59" name="Line 359"/>
            <p:cNvSpPr/>
            <p:nvPr/>
          </p:nvSpPr>
          <p:spPr>
            <a:xfrm>
              <a:off x="8834438" y="5741670"/>
              <a:ext cx="9525" cy="132398"/>
            </a:xfrm>
            <a:custGeom>
              <a:avLst/>
              <a:gdLst/>
              <a:ahLst/>
              <a:cxnLst/>
              <a:rect l="l" t="t" r="r" b="b"/>
              <a:pathLst>
                <a:path w="9525" h="132398">
                  <a:moveTo>
                    <a:pt x="0" y="0"/>
                  </a:moveTo>
                  <a:lnTo>
                    <a:pt x="0" y="132398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60" name="Line 360"/>
            <p:cNvSpPr/>
            <p:nvPr/>
          </p:nvSpPr>
          <p:spPr>
            <a:xfrm>
              <a:off x="9478328" y="5741670"/>
              <a:ext cx="9525" cy="132398"/>
            </a:xfrm>
            <a:custGeom>
              <a:avLst/>
              <a:gdLst/>
              <a:ahLst/>
              <a:cxnLst/>
              <a:rect l="l" t="t" r="r" b="b"/>
              <a:pathLst>
                <a:path w="9525" h="132398">
                  <a:moveTo>
                    <a:pt x="0" y="0"/>
                  </a:moveTo>
                  <a:lnTo>
                    <a:pt x="0" y="132398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61" name="Line 361"/>
            <p:cNvSpPr/>
            <p:nvPr/>
          </p:nvSpPr>
          <p:spPr>
            <a:xfrm>
              <a:off x="10122218" y="5741670"/>
              <a:ext cx="9525" cy="132398"/>
            </a:xfrm>
            <a:custGeom>
              <a:avLst/>
              <a:gdLst/>
              <a:ahLst/>
              <a:cxnLst/>
              <a:rect l="l" t="t" r="r" b="b"/>
              <a:pathLst>
                <a:path w="9525" h="132398">
                  <a:moveTo>
                    <a:pt x="0" y="0"/>
                  </a:moveTo>
                  <a:lnTo>
                    <a:pt x="0" y="132398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  <p:sp>
          <p:nvSpPr>
            <p:cNvPr id="362" name="Line 362"/>
            <p:cNvSpPr/>
            <p:nvPr/>
          </p:nvSpPr>
          <p:spPr>
            <a:xfrm>
              <a:off x="10767060" y="5741670"/>
              <a:ext cx="9525" cy="132398"/>
            </a:xfrm>
            <a:custGeom>
              <a:avLst/>
              <a:gdLst/>
              <a:ahLst/>
              <a:cxnLst/>
              <a:rect l="l" t="t" r="r" b="b"/>
              <a:pathLst>
                <a:path w="9525" h="132398">
                  <a:moveTo>
                    <a:pt x="0" y="0"/>
                  </a:moveTo>
                  <a:lnTo>
                    <a:pt x="0" y="132398"/>
                  </a:lnTo>
                </a:path>
              </a:pathLst>
            </a:custGeom>
            <a:noFill/>
            <a:ln w="7620">
              <a:solidFill>
                <a:schemeClr val="accent5"/>
              </a:solidFill>
            </a:ln>
          </p:spPr>
        </p:sp>
      </p:grpSp>
      <p:grpSp>
        <p:nvGrpSpPr>
          <p:cNvPr id="368" name="Group 368"/>
          <p:cNvGrpSpPr/>
          <p:nvPr/>
        </p:nvGrpSpPr>
        <p:grpSpPr>
          <a:xfrm>
            <a:off x="680466" y="6305550"/>
            <a:ext cx="10825734" cy="349187"/>
            <a:chOff x="680466" y="6305550"/>
            <a:chExt cx="10825734" cy="349187"/>
          </a:xfrm>
        </p:grpSpPr>
        <p:sp>
          <p:nvSpPr>
            <p:cNvPr id="364" name="Line 364"/>
            <p:cNvSpPr/>
            <p:nvPr/>
          </p:nvSpPr>
          <p:spPr>
            <a:xfrm>
              <a:off x="685800" y="6305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1430">
              <a:solidFill>
                <a:schemeClr val="accent3"/>
              </a:solidFill>
            </a:ln>
          </p:spPr>
        </p:sp>
        <p:sp>
          <p:nvSpPr>
            <p:cNvPr id="365" name="TextBox 365"/>
            <p:cNvSpPr txBox="1"/>
            <p:nvPr/>
          </p:nvSpPr>
          <p:spPr>
            <a:xfrm>
              <a:off x="680466" y="6449378"/>
              <a:ext cx="7931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新高一规划</a:t>
              </a:r>
              <a:endParaRPr lang="zh-CN" sz="1050" b="1" spc="75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6" name="TextBox 366"/>
            <p:cNvSpPr txBox="1"/>
            <p:nvPr/>
          </p:nvSpPr>
          <p:spPr>
            <a:xfrm>
              <a:off x="5761228" y="645747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6717D"/>
                  </a:solidFill>
                  <a:latin typeface="+mn-lt"/>
                  <a:ea typeface="+mn-ea"/>
                  <a:cs typeface="+mn-cs"/>
                </a:rPr>
                <a:t>新高考政策</a:t>
              </a:r>
              <a:endParaRPr lang="zh-CN" sz="980" dirty="0">
                <a:solidFill>
                  <a:srgbClr val="66717D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新高一规划_学术期刊编辑风">
  <a:themeElements>
    <a:clrScheme name="新高一规划_学术期刊编辑风">
      <a:dk1>
        <a:srgbClr val="1E2B3B"/>
      </a:dk1>
      <a:lt1>
        <a:srgbClr val="F7F2E8"/>
      </a:lt1>
      <a:dk2>
        <a:srgbClr val="1F497D"/>
      </a:dk2>
      <a:lt2>
        <a:srgbClr val="EFE6D6"/>
      </a:lt2>
      <a:accent1>
        <a:srgbClr val="082B5C"/>
      </a:accent1>
      <a:accent2>
        <a:srgbClr val="8F2118"/>
      </a:accent2>
      <a:accent3>
        <a:srgbClr val="B89555"/>
      </a:accent3>
      <a:accent4>
        <a:srgbClr val="082B5C"/>
      </a:accent4>
      <a:accent5>
        <a:srgbClr val="C9BDAA"/>
      </a:accent5>
      <a:accent6>
        <a:srgbClr val="F79646"/>
      </a:accent6>
      <a:hlink>
        <a:srgbClr val="8F2118"/>
      </a:hlink>
      <a:folHlink>
        <a:srgbClr val="B89555"/>
      </a:folHlink>
    </a:clrScheme>
    <a:fontScheme name="新高一规划_学术期刊编辑风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inorFont>
    </a:fontScheme>
    <a:fmtScheme name="新高一规划_学术期刊编辑风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新高一规划_学术期刊编辑风">
  <a:themeElements>
    <a:clrScheme name="新高一规划_学术期刊编辑风">
      <a:dk1>
        <a:srgbClr val="1E2B3B"/>
      </a:dk1>
      <a:lt1>
        <a:srgbClr val="F7F2E8"/>
      </a:lt1>
      <a:dk2>
        <a:srgbClr val="1F497D"/>
      </a:dk2>
      <a:lt2>
        <a:srgbClr val="EFE6D6"/>
      </a:lt2>
      <a:accent1>
        <a:srgbClr val="082B5C"/>
      </a:accent1>
      <a:accent2>
        <a:srgbClr val="8F2118"/>
      </a:accent2>
      <a:accent3>
        <a:srgbClr val="B89555"/>
      </a:accent3>
      <a:accent4>
        <a:srgbClr val="082B5C"/>
      </a:accent4>
      <a:accent5>
        <a:srgbClr val="C9BDAA"/>
      </a:accent5>
      <a:accent6>
        <a:srgbClr val="F79646"/>
      </a:accent6>
      <a:hlink>
        <a:srgbClr val="8F2118"/>
      </a:hlink>
      <a:folHlink>
        <a:srgbClr val="B89555"/>
      </a:folHlink>
    </a:clrScheme>
    <a:fontScheme name="新高一规划_学术期刊编辑风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新高一规划_学术期刊编辑风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655</Words>
  <Application>WPS 演示</Application>
  <PresentationFormat>宽屏</PresentationFormat>
  <Paragraphs>238</Paragraphs>
  <Slides>1</Slides>
  <Notes>89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</vt:lpstr>
      <vt:lpstr>Cambria Math</vt:lpstr>
      <vt:lpstr>微软雅黑</vt:lpstr>
      <vt:lpstr>新高一规划_学术期刊编辑风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HanYu</dc:creator>
  <cp:lastModifiedBy>HanYu</cp:lastModifiedBy>
  <cp:revision>11</cp:revision>
  <dcterms:created xsi:type="dcterms:W3CDTF">2026-08-03T05:25:00Z</dcterms:created>
  <dcterms:modified xsi:type="dcterms:W3CDTF">2026-08-09T12:13:19Z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2052-12.1.0.28022</vt:lpwstr>
  </property>
  <property fmtid="{D5CDD505-2E9C-101B-9397-08002B2CF9AE}" pid="3" name="ICV">
    <vt:lpwstr>F94C373423EE4BD09417DDFA370C582F_12</vt:lpwstr>
  </property>
</Properties>
</file>