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Reference image: E:\志愿填报视频资料\03.PPT图片格式\机械类\ChatGPT Image 2026年7月28日 23_56_41 (2).png</a:t>
            </a:r>
          </a:p>
          <a:p>
            <a:r>
              <a:t>Complex visual asset layer: derived from the supplied image with main text regions masked. Major visible text is rebuilt as editable PowerPoint text boxes; orange separators are editable shapes.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ditable-orange-title-marker"/>
          <p:cNvSpPr>
            <a:spLocks noGrp="1"/>
          </p:cNvSpPr>
          <p:nvPr/>
        </p:nvSpPr>
        <p:spPr>
          <a:xfrm>
            <a:off x="390525" y="514350"/>
            <a:ext cx="38100" cy="523875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</p:sp>
      <p:sp>
        <p:nvSpPr>
          <p:cNvPr id="3" name="editable-main-title"/>
          <p:cNvSpPr>
            <a:spLocks noGrp="1"/>
          </p:cNvSpPr>
          <p:nvPr/>
        </p:nvSpPr>
        <p:spPr>
          <a:xfrm>
            <a:off x="647700" y="466725"/>
            <a:ext cx="4191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90000"/>
              </a:lnSpc>
              <a:buNone/>
              <a:defRPr sz="40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40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认识机械类专业</a:t>
            </a:r>
            <a:endParaRPr sz="4050" b="1">
              <a:solidFill>
                <a:srgbClr val="F7FA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editable-section-core-definition"/>
          <p:cNvSpPr>
            <a:spLocks noGrp="1"/>
          </p:cNvSpPr>
          <p:nvPr/>
        </p:nvSpPr>
        <p:spPr>
          <a:xfrm>
            <a:off x="1123950" y="18859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2EB4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75" b="1">
                <a:solidFill>
                  <a:srgbClr val="2EB4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核心定义</a:t>
            </a:r>
            <a:endParaRPr sz="1875" b="1">
              <a:solidFill>
                <a:srgbClr val="2EB4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editable-core-design"/>
          <p:cNvSpPr>
            <a:spLocks noGrp="1"/>
          </p:cNvSpPr>
          <p:nvPr/>
        </p:nvSpPr>
        <p:spPr>
          <a:xfrm>
            <a:off x="1152525" y="2371725"/>
            <a:ext cx="914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25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设 计</a:t>
            </a:r>
            <a:endParaRPr sz="2325" b="1">
              <a:solidFill>
                <a:srgbClr val="F7FA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editable-core-manufacturing"/>
          <p:cNvSpPr>
            <a:spLocks noGrp="1"/>
          </p:cNvSpPr>
          <p:nvPr/>
        </p:nvSpPr>
        <p:spPr>
          <a:xfrm>
            <a:off x="2419350" y="2371725"/>
            <a:ext cx="914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25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制 造</a:t>
            </a:r>
            <a:endParaRPr sz="2325" b="1">
              <a:solidFill>
                <a:srgbClr val="F7FA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editable-core-operation"/>
          <p:cNvSpPr>
            <a:spLocks noGrp="1"/>
          </p:cNvSpPr>
          <p:nvPr/>
        </p:nvSpPr>
        <p:spPr>
          <a:xfrm>
            <a:off x="3552825" y="2371725"/>
            <a:ext cx="914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25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运 行</a:t>
            </a:r>
            <a:endParaRPr sz="2325" b="1">
              <a:solidFill>
                <a:srgbClr val="F7FA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editable-core-optimization"/>
          <p:cNvSpPr>
            <a:spLocks noGrp="1"/>
          </p:cNvSpPr>
          <p:nvPr/>
        </p:nvSpPr>
        <p:spPr>
          <a:xfrm>
            <a:off x="4648200" y="2371725"/>
            <a:ext cx="914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25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优 化</a:t>
            </a:r>
            <a:endParaRPr sz="2325" b="1">
              <a:solidFill>
                <a:srgbClr val="F7FA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editable-core-orange-separator-1"/>
          <p:cNvSpPr>
            <a:spLocks noGrp="1"/>
          </p:cNvSpPr>
          <p:nvPr/>
        </p:nvSpPr>
        <p:spPr>
          <a:xfrm>
            <a:off x="2114550" y="2381250"/>
            <a:ext cx="28575" cy="295275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</p:sp>
      <p:sp>
        <p:nvSpPr>
          <p:cNvPr id="10" name="editable-core-orange-separator-2"/>
          <p:cNvSpPr>
            <a:spLocks noGrp="1"/>
          </p:cNvSpPr>
          <p:nvPr/>
        </p:nvSpPr>
        <p:spPr>
          <a:xfrm>
            <a:off x="3286125" y="2381250"/>
            <a:ext cx="28575" cy="295275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</p:sp>
      <p:sp>
        <p:nvSpPr>
          <p:cNvPr id="11" name="editable-core-orange-separator-3"/>
          <p:cNvSpPr>
            <a:spLocks noGrp="1"/>
          </p:cNvSpPr>
          <p:nvPr/>
        </p:nvSpPr>
        <p:spPr>
          <a:xfrm>
            <a:off x="4419600" y="2381250"/>
            <a:ext cx="28575" cy="295275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</p:sp>
      <p:sp>
        <p:nvSpPr>
          <p:cNvPr id="12" name="editable-section-development-path"/>
          <p:cNvSpPr>
            <a:spLocks noGrp="1"/>
          </p:cNvSpPr>
          <p:nvPr/>
        </p:nvSpPr>
        <p:spPr>
          <a:xfrm>
            <a:off x="1123950" y="327660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2EB4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75" b="1">
                <a:solidFill>
                  <a:srgbClr val="2EB4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发展脉络</a:t>
            </a:r>
            <a:endParaRPr sz="1875" b="1">
              <a:solidFill>
                <a:srgbClr val="2EB4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editable-path-simple-machine"/>
          <p:cNvSpPr>
            <a:spLocks noGrp="1"/>
          </p:cNvSpPr>
          <p:nvPr/>
        </p:nvSpPr>
        <p:spPr>
          <a:xfrm>
            <a:off x="1238250" y="45529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E8EDF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E8EDF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简单机械</a:t>
            </a:r>
            <a:endParaRPr sz="1350" b="0">
              <a:solidFill>
                <a:srgbClr val="E8EDF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editable-path-industrial-revolution"/>
          <p:cNvSpPr>
            <a:spLocks noGrp="1"/>
          </p:cNvSpPr>
          <p:nvPr/>
        </p:nvSpPr>
        <p:spPr>
          <a:xfrm>
            <a:off x="3133725" y="45529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E8EDF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E8EDF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工业革命</a:t>
            </a:r>
            <a:endParaRPr sz="1350" b="0">
              <a:solidFill>
                <a:srgbClr val="E8EDF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editable-path-digital-smart-manufacturing"/>
          <p:cNvSpPr>
            <a:spLocks noGrp="1"/>
          </p:cNvSpPr>
          <p:nvPr/>
        </p:nvSpPr>
        <p:spPr>
          <a:xfrm>
            <a:off x="4743450" y="45529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E8EDF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E8EDF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数字化智能制造</a:t>
            </a:r>
            <a:endParaRPr sz="1350" b="0">
              <a:solidFill>
                <a:srgbClr val="E8EDF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editable-section-development-trend"/>
          <p:cNvSpPr>
            <a:spLocks noGrp="1"/>
          </p:cNvSpPr>
          <p:nvPr/>
        </p:nvSpPr>
        <p:spPr>
          <a:xfrm>
            <a:off x="1123950" y="52006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2EB4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75" b="1">
                <a:solidFill>
                  <a:srgbClr val="2EB4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发展趋势</a:t>
            </a:r>
            <a:endParaRPr sz="1875" b="1">
              <a:solidFill>
                <a:srgbClr val="2EB4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editable-trend-ai-chip-text"/>
          <p:cNvSpPr>
            <a:spLocks noGrp="1"/>
          </p:cNvSpPr>
          <p:nvPr/>
        </p:nvSpPr>
        <p:spPr>
          <a:xfrm>
            <a:off x="1238250" y="5781675"/>
            <a:ext cx="60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F4F7F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1">
                <a:solidFill>
                  <a:srgbClr val="F4F7F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AI</a:t>
            </a:r>
            <a:endParaRPr sz="1575" b="1">
              <a:solidFill>
                <a:srgbClr val="F4F7F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editable-trend-intelligent"/>
          <p:cNvSpPr>
            <a:spLocks noGrp="1"/>
          </p:cNvSpPr>
          <p:nvPr/>
        </p:nvSpPr>
        <p:spPr>
          <a:xfrm>
            <a:off x="1866900" y="5838825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E8EDF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0">
                <a:solidFill>
                  <a:srgbClr val="E8EDF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智能化</a:t>
            </a:r>
            <a:endParaRPr sz="1500" b="0">
              <a:solidFill>
                <a:srgbClr val="E8EDF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editable-trend-green"/>
          <p:cNvSpPr>
            <a:spLocks noGrp="1"/>
          </p:cNvSpPr>
          <p:nvPr/>
        </p:nvSpPr>
        <p:spPr>
          <a:xfrm>
            <a:off x="3524250" y="5838825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E8EDF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0">
                <a:solidFill>
                  <a:srgbClr val="E8EDF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绿色化</a:t>
            </a:r>
            <a:endParaRPr sz="1500" b="0">
              <a:solidFill>
                <a:srgbClr val="E8EDF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editable-trend-high-end"/>
          <p:cNvSpPr>
            <a:spLocks noGrp="1"/>
          </p:cNvSpPr>
          <p:nvPr/>
        </p:nvSpPr>
        <p:spPr>
          <a:xfrm>
            <a:off x="5410200" y="5838825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E8EDF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0">
                <a:solidFill>
                  <a:srgbClr val="E8EDF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高端化</a:t>
            </a:r>
            <a:endParaRPr sz="1500" b="0">
              <a:solidFill>
                <a:srgbClr val="E8EDF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editable-layer-smart-title"/>
          <p:cNvSpPr>
            <a:spLocks noGrp="1"/>
          </p:cNvSpPr>
          <p:nvPr/>
        </p:nvSpPr>
        <p:spPr>
          <a:xfrm>
            <a:off x="10629900" y="12763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20B8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25" b="1">
                <a:solidFill>
                  <a:srgbClr val="20B8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智能优化层</a:t>
            </a:r>
            <a:endParaRPr sz="1725" b="1">
              <a:solidFill>
                <a:srgbClr val="20B8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editable-layer-smart-subtitle"/>
          <p:cNvSpPr>
            <a:spLocks noGrp="1"/>
          </p:cNvSpPr>
          <p:nvPr/>
        </p:nvSpPr>
        <p:spPr>
          <a:xfrm>
            <a:off x="10639425" y="1590675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BDC2C9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0">
                <a:solidFill>
                  <a:srgbClr val="BDC2C9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数据与算法</a:t>
            </a:r>
            <a:endParaRPr sz="1425" b="0">
              <a:solidFill>
                <a:srgbClr val="BDC2C9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editable-layer-control-title"/>
          <p:cNvSpPr>
            <a:spLocks noGrp="1"/>
          </p:cNvSpPr>
          <p:nvPr/>
        </p:nvSpPr>
        <p:spPr>
          <a:xfrm>
            <a:off x="10629900" y="2638425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20B8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25" b="1">
                <a:solidFill>
                  <a:srgbClr val="20B8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执行控制层</a:t>
            </a:r>
            <a:endParaRPr sz="1725" b="1">
              <a:solidFill>
                <a:srgbClr val="20B8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editable-layer-control-subtitle"/>
          <p:cNvSpPr>
            <a:spLocks noGrp="1"/>
          </p:cNvSpPr>
          <p:nvPr/>
        </p:nvSpPr>
        <p:spPr>
          <a:xfrm>
            <a:off x="10639425" y="29527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BDC2C9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0">
                <a:solidFill>
                  <a:srgbClr val="BDC2C9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控制与驱动</a:t>
            </a:r>
            <a:endParaRPr sz="1425" b="0">
              <a:solidFill>
                <a:srgbClr val="BDC2C9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editable-layer-function-title"/>
          <p:cNvSpPr>
            <a:spLocks noGrp="1"/>
          </p:cNvSpPr>
          <p:nvPr/>
        </p:nvSpPr>
        <p:spPr>
          <a:xfrm>
            <a:off x="10629900" y="4010025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20B8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25" b="1">
                <a:solidFill>
                  <a:srgbClr val="20B8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功能实现层</a:t>
            </a:r>
            <a:endParaRPr sz="1725" b="1">
              <a:solidFill>
                <a:srgbClr val="20B8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editable-layer-function-subtitle"/>
          <p:cNvSpPr>
            <a:spLocks noGrp="1"/>
          </p:cNvSpPr>
          <p:nvPr/>
        </p:nvSpPr>
        <p:spPr>
          <a:xfrm>
            <a:off x="10639425" y="43243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BDC2C9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0">
                <a:solidFill>
                  <a:srgbClr val="BDC2C9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传动与执行</a:t>
            </a:r>
            <a:endParaRPr sz="1425" b="0">
              <a:solidFill>
                <a:srgbClr val="BDC2C9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editable-layer-foundation-title"/>
          <p:cNvSpPr>
            <a:spLocks noGrp="1"/>
          </p:cNvSpPr>
          <p:nvPr/>
        </p:nvSpPr>
        <p:spPr>
          <a:xfrm>
            <a:off x="10629900" y="5419725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20B8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25" b="1">
                <a:solidFill>
                  <a:srgbClr val="20B8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基础支撑层</a:t>
            </a:r>
            <a:endParaRPr sz="1725" b="1">
              <a:solidFill>
                <a:srgbClr val="20B8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editable-layer-foundation-subtitle"/>
          <p:cNvSpPr>
            <a:spLocks noGrp="1"/>
          </p:cNvSpPr>
          <p:nvPr/>
        </p:nvSpPr>
        <p:spPr>
          <a:xfrm>
            <a:off x="10639425" y="57340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BDC2C9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0">
                <a:solidFill>
                  <a:srgbClr val="BDC2C9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结构与材料</a:t>
            </a:r>
            <a:endParaRPr sz="1425" b="0">
              <a:solidFill>
                <a:srgbClr val="BDC2C9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WPS 演示</Application>
  <PresentationFormat>Converted Presentation</PresentationFormat>
  <Paragraphs>46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宋体</vt:lpstr>
      <vt:lpstr>Wingdings</vt:lpstr>
      <vt:lpstr>Microsoft YaHei UI</vt:lpstr>
      <vt:lpstr>Arial Narrow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3</cp:revision>
  <dcterms:created xsi:type="dcterms:W3CDTF">2026-07-29T15:34:00Z</dcterms:created>
  <dcterms:modified xsi:type="dcterms:W3CDTF">2026-08-09T12:13:03Z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FE51A126070246DA8B856B42D54D8A9F_13</vt:lpwstr>
  </property>
  <property fmtid="{D5CDD505-2E9C-101B-9397-08002B2CF9AE}" pid="3" name="KSOProductBuildVer">
    <vt:lpwstr>2052-12.1.0.28022</vt:lpwstr>
  </property>
</Properties>
</file>