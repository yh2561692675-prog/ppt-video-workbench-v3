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06-title-editable"/>
          <p:cNvSpPr>
            <a:spLocks noGrp="1"/>
          </p:cNvSpPr>
          <p:nvPr/>
        </p:nvSpPr>
        <p:spPr>
          <a:xfrm>
            <a:off x="695325" y="409575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3825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825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rPr>
              <a:t>选专业前，先看自己想解决哪一类技术问题</a:t>
            </a:r>
            <a:endParaRPr sz="3825" b="1">
              <a:solidFill>
                <a:srgbClr val="071B42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3" name="page06-title-rule"/>
          <p:cNvSpPr>
            <a:spLocks noGrp="1"/>
          </p:cNvSpPr>
          <p:nvPr/>
        </p:nvSpPr>
        <p:spPr>
          <a:xfrm>
            <a:off x="695325" y="1219200"/>
            <a:ext cx="10839450" cy="19050"/>
          </a:xfrm>
          <a:prstGeom prst="rect">
            <a:avLst/>
          </a:prstGeom>
          <a:solidFill>
            <a:srgbClr val="6C7280"/>
          </a:solidFill>
          <a:ln w="0">
            <a:solidFill>
              <a:srgbClr val="6C7280"/>
            </a:solidFill>
            <a:prstDash val="solid"/>
          </a:ln>
        </p:spPr>
      </p:sp>
      <p:sp>
        <p:nvSpPr>
          <p:cNvPr id="4" name="page06-title-accent"/>
          <p:cNvSpPr>
            <a:spLocks noGrp="1"/>
          </p:cNvSpPr>
          <p:nvPr/>
        </p:nvSpPr>
        <p:spPr>
          <a:xfrm>
            <a:off x="695325" y="1200150"/>
            <a:ext cx="209550" cy="57150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rcRect t="372" b="372"/>
          <a:stretch>
            <a:fillRect/>
          </a:stretch>
        </p:blipFill>
        <p:spPr>
          <a:xfrm>
            <a:off x="695325" y="1390650"/>
            <a:ext cx="2333625" cy="86677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rcRect t="519" b="519"/>
          <a:stretch>
            <a:fillRect/>
          </a:stretch>
        </p:blipFill>
        <p:spPr>
          <a:xfrm>
            <a:off x="3333750" y="1390650"/>
            <a:ext cx="1619250" cy="866775"/>
          </a:xfrm>
          <a:prstGeom prst="rect">
            <a:avLst/>
          </a:prstGeom>
        </p:spPr>
      </p:pic>
      <p:sp>
        <p:nvSpPr>
          <p:cNvPr id="6" name="page06-row-1-marker"/>
          <p:cNvSpPr>
            <a:spLocks noGrp="1"/>
          </p:cNvSpPr>
          <p:nvPr/>
        </p:nvSpPr>
        <p:spPr>
          <a:xfrm>
            <a:off x="5067300" y="1571625"/>
            <a:ext cx="28575" cy="561975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sp>
        <p:nvSpPr>
          <p:cNvPr id="7" name="page06-row-1-editable"/>
          <p:cNvSpPr>
            <a:spLocks noGrp="1"/>
          </p:cNvSpPr>
          <p:nvPr/>
        </p:nvSpPr>
        <p:spPr>
          <a:xfrm>
            <a:off x="5362575" y="1543050"/>
            <a:ext cx="617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rPr>
              <a:t>电子器件｜造出更小、更快的芯片与器件</a:t>
            </a:r>
            <a:endParaRPr sz="2550" b="1">
              <a:solidFill>
                <a:srgbClr val="071B42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8" name="page06-row-1-rule"/>
          <p:cNvSpPr>
            <a:spLocks noGrp="1"/>
          </p:cNvSpPr>
          <p:nvPr/>
        </p:nvSpPr>
        <p:spPr>
          <a:xfrm>
            <a:off x="3162300" y="2295525"/>
            <a:ext cx="8372475" cy="19050"/>
          </a:xfrm>
          <a:prstGeom prst="rect">
            <a:avLst/>
          </a:prstGeom>
          <a:solidFill>
            <a:srgbClr val="D0CEC7"/>
          </a:solidFill>
          <a:ln w="0">
            <a:solidFill>
              <a:srgbClr val="D0CEC7"/>
            </a:solidFill>
            <a:prstDash val="solid"/>
          </a:ln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rcRect t="372" b="372"/>
          <a:stretch>
            <a:fillRect/>
          </a:stretch>
        </p:blipFill>
        <p:spPr>
          <a:xfrm>
            <a:off x="695325" y="2333625"/>
            <a:ext cx="2333625" cy="86677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rcRect t="519" b="519"/>
          <a:stretch>
            <a:fillRect/>
          </a:stretch>
        </p:blipFill>
        <p:spPr>
          <a:xfrm>
            <a:off x="3333750" y="2333625"/>
            <a:ext cx="1619250" cy="866775"/>
          </a:xfrm>
          <a:prstGeom prst="rect">
            <a:avLst/>
          </a:prstGeom>
        </p:spPr>
      </p:pic>
      <p:sp>
        <p:nvSpPr>
          <p:cNvPr id="11" name="page06-row-2-marker"/>
          <p:cNvSpPr>
            <a:spLocks noGrp="1"/>
          </p:cNvSpPr>
          <p:nvPr/>
        </p:nvSpPr>
        <p:spPr>
          <a:xfrm>
            <a:off x="5067300" y="2514600"/>
            <a:ext cx="28575" cy="561975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sp>
        <p:nvSpPr>
          <p:cNvPr id="12" name="page06-row-2-editable"/>
          <p:cNvSpPr>
            <a:spLocks noGrp="1"/>
          </p:cNvSpPr>
          <p:nvPr/>
        </p:nvSpPr>
        <p:spPr>
          <a:xfrm>
            <a:off x="5362575" y="2486025"/>
            <a:ext cx="617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rPr>
              <a:t>通信信号｜让信息传得更远、更稳</a:t>
            </a:r>
            <a:endParaRPr sz="2550" b="1">
              <a:solidFill>
                <a:srgbClr val="071B42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3" name="page06-row-2-rule"/>
          <p:cNvSpPr>
            <a:spLocks noGrp="1"/>
          </p:cNvSpPr>
          <p:nvPr/>
        </p:nvSpPr>
        <p:spPr>
          <a:xfrm>
            <a:off x="3162300" y="3238500"/>
            <a:ext cx="8372475" cy="19050"/>
          </a:xfrm>
          <a:prstGeom prst="rect">
            <a:avLst/>
          </a:prstGeom>
          <a:solidFill>
            <a:srgbClr val="D0CEC7"/>
          </a:solidFill>
          <a:ln w="0">
            <a:solidFill>
              <a:srgbClr val="D0CEC7"/>
            </a:solidFill>
            <a:prstDash val="solid"/>
          </a:ln>
        </p:spPr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5"/>
          <a:srcRect t="372" b="372"/>
          <a:stretch>
            <a:fillRect/>
          </a:stretch>
        </p:blipFill>
        <p:spPr>
          <a:xfrm>
            <a:off x="695325" y="3276600"/>
            <a:ext cx="2333625" cy="86677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6"/>
          <a:srcRect t="519" b="519"/>
          <a:stretch>
            <a:fillRect/>
          </a:stretch>
        </p:blipFill>
        <p:spPr>
          <a:xfrm>
            <a:off x="3333750" y="3276600"/>
            <a:ext cx="1619250" cy="866775"/>
          </a:xfrm>
          <a:prstGeom prst="rect">
            <a:avLst/>
          </a:prstGeom>
        </p:spPr>
      </p:pic>
      <p:sp>
        <p:nvSpPr>
          <p:cNvPr id="16" name="page06-row-3-marker"/>
          <p:cNvSpPr>
            <a:spLocks noGrp="1"/>
          </p:cNvSpPr>
          <p:nvPr/>
        </p:nvSpPr>
        <p:spPr>
          <a:xfrm>
            <a:off x="5067300" y="3457575"/>
            <a:ext cx="28575" cy="561975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sp>
        <p:nvSpPr>
          <p:cNvPr id="17" name="page06-row-3-editable"/>
          <p:cNvSpPr>
            <a:spLocks noGrp="1"/>
          </p:cNvSpPr>
          <p:nvPr/>
        </p:nvSpPr>
        <p:spPr>
          <a:xfrm>
            <a:off x="5362575" y="3429000"/>
            <a:ext cx="617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rPr>
              <a:t>光电技术｜用光完成感知、传输与成像</a:t>
            </a:r>
            <a:endParaRPr sz="2550" b="1">
              <a:solidFill>
                <a:srgbClr val="071B42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8" name="page06-row-3-rule"/>
          <p:cNvSpPr>
            <a:spLocks noGrp="1"/>
          </p:cNvSpPr>
          <p:nvPr/>
        </p:nvSpPr>
        <p:spPr>
          <a:xfrm>
            <a:off x="3162300" y="4181475"/>
            <a:ext cx="8372475" cy="19050"/>
          </a:xfrm>
          <a:prstGeom prst="rect">
            <a:avLst/>
          </a:prstGeom>
          <a:solidFill>
            <a:srgbClr val="D0CEC7"/>
          </a:solidFill>
          <a:ln w="0">
            <a:solidFill>
              <a:srgbClr val="D0CEC7"/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7"/>
          <a:srcRect t="372" b="372"/>
          <a:stretch>
            <a:fillRect/>
          </a:stretch>
        </p:blipFill>
        <p:spPr>
          <a:xfrm>
            <a:off x="695325" y="4219575"/>
            <a:ext cx="2333625" cy="86677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8"/>
          <a:srcRect t="519" b="519"/>
          <a:stretch>
            <a:fillRect/>
          </a:stretch>
        </p:blipFill>
        <p:spPr>
          <a:xfrm>
            <a:off x="3333750" y="4219575"/>
            <a:ext cx="1619250" cy="866775"/>
          </a:xfrm>
          <a:prstGeom prst="rect">
            <a:avLst/>
          </a:prstGeom>
        </p:spPr>
      </p:pic>
      <p:sp>
        <p:nvSpPr>
          <p:cNvPr id="21" name="page06-row-4-marker"/>
          <p:cNvSpPr>
            <a:spLocks noGrp="1"/>
          </p:cNvSpPr>
          <p:nvPr/>
        </p:nvSpPr>
        <p:spPr>
          <a:xfrm>
            <a:off x="5067300" y="4400550"/>
            <a:ext cx="28575" cy="561975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sp>
        <p:nvSpPr>
          <p:cNvPr id="22" name="page06-row-4-editable"/>
          <p:cNvSpPr>
            <a:spLocks noGrp="1"/>
          </p:cNvSpPr>
          <p:nvPr/>
        </p:nvSpPr>
        <p:spPr>
          <a:xfrm>
            <a:off x="5362575" y="4371975"/>
            <a:ext cx="617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rPr>
              <a:t>交叉应用｜把电子技术嵌入行业场景</a:t>
            </a:r>
            <a:endParaRPr sz="2550" b="1">
              <a:solidFill>
                <a:srgbClr val="071B42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3" name="page06-row-4-rule"/>
          <p:cNvSpPr>
            <a:spLocks noGrp="1"/>
          </p:cNvSpPr>
          <p:nvPr/>
        </p:nvSpPr>
        <p:spPr>
          <a:xfrm>
            <a:off x="3162300" y="5124450"/>
            <a:ext cx="8372475" cy="19050"/>
          </a:xfrm>
          <a:prstGeom prst="rect">
            <a:avLst/>
          </a:prstGeom>
          <a:solidFill>
            <a:srgbClr val="D0CEC7"/>
          </a:solidFill>
          <a:ln w="0">
            <a:solidFill>
              <a:srgbClr val="D0CEC7"/>
            </a:solidFill>
            <a:prstDash val="solid"/>
          </a:ln>
        </p:spPr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9"/>
          <a:srcRect t="372" b="372"/>
          <a:stretch>
            <a:fillRect/>
          </a:stretch>
        </p:blipFill>
        <p:spPr>
          <a:xfrm>
            <a:off x="695325" y="5162550"/>
            <a:ext cx="2333625" cy="86677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0"/>
          <a:srcRect t="519" b="519"/>
          <a:stretch>
            <a:fillRect/>
          </a:stretch>
        </p:blipFill>
        <p:spPr>
          <a:xfrm>
            <a:off x="3333750" y="5162550"/>
            <a:ext cx="1619250" cy="866775"/>
          </a:xfrm>
          <a:prstGeom prst="rect">
            <a:avLst/>
          </a:prstGeom>
        </p:spPr>
      </p:pic>
      <p:sp>
        <p:nvSpPr>
          <p:cNvPr id="26" name="page06-row-5-marker"/>
          <p:cNvSpPr>
            <a:spLocks noGrp="1"/>
          </p:cNvSpPr>
          <p:nvPr/>
        </p:nvSpPr>
        <p:spPr>
          <a:xfrm>
            <a:off x="5067300" y="5343525"/>
            <a:ext cx="28575" cy="561975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sp>
        <p:nvSpPr>
          <p:cNvPr id="27" name="page06-row-5-editable"/>
          <p:cNvSpPr>
            <a:spLocks noGrp="1"/>
          </p:cNvSpPr>
          <p:nvPr/>
        </p:nvSpPr>
        <p:spPr>
          <a:xfrm>
            <a:off x="5362575" y="5314950"/>
            <a:ext cx="617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550" b="1">
                <a:solidFill>
                  <a:srgbClr val="071B42"/>
                </a:solidFill>
                <a:latin typeface="Source Han Serif SC"/>
                <a:ea typeface="Source Han Serif SC"/>
                <a:cs typeface="Source Han Serif SC"/>
              </a:rPr>
              <a:t>特色前沿｜探索新材料与新型信息载体</a:t>
            </a:r>
            <a:endParaRPr sz="2550" b="1">
              <a:solidFill>
                <a:srgbClr val="071B42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8" name="page06-footer-rule-left"/>
          <p:cNvSpPr>
            <a:spLocks noGrp="1"/>
          </p:cNvSpPr>
          <p:nvPr/>
        </p:nvSpPr>
        <p:spPr>
          <a:xfrm>
            <a:off x="695325" y="6315075"/>
            <a:ext cx="1962150" cy="19050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sp>
        <p:nvSpPr>
          <p:cNvPr id="29" name="page06-footer-rule-right"/>
          <p:cNvSpPr>
            <a:spLocks noGrp="1"/>
          </p:cNvSpPr>
          <p:nvPr/>
        </p:nvSpPr>
        <p:spPr>
          <a:xfrm>
            <a:off x="9553575" y="6315075"/>
            <a:ext cx="1981200" cy="19050"/>
          </a:xfrm>
          <a:prstGeom prst="rect">
            <a:avLst/>
          </a:prstGeom>
          <a:solidFill>
            <a:srgbClr val="D77430"/>
          </a:solidFill>
          <a:ln w="0">
            <a:solidFill>
              <a:srgbClr val="D77430"/>
            </a:solidFill>
            <a:prstDash val="solid"/>
          </a:ln>
        </p:spPr>
      </p:sp>
      <p:sp>
        <p:nvSpPr>
          <p:cNvPr id="30" name="page06-footer-editable"/>
          <p:cNvSpPr>
            <a:spLocks noGrp="1"/>
          </p:cNvSpPr>
          <p:nvPr/>
        </p:nvSpPr>
        <p:spPr>
          <a:xfrm>
            <a:off x="3215640" y="6048375"/>
            <a:ext cx="57734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775" b="1">
                <a:solidFill>
                  <a:srgbClr val="BD5F19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775" b="1">
                <a:solidFill>
                  <a:srgbClr val="BD5F19"/>
                </a:solidFill>
                <a:latin typeface="Source Han Serif SC"/>
                <a:ea typeface="Source Han Serif SC"/>
                <a:cs typeface="Source Han Serif SC"/>
              </a:rPr>
              <a:t>研究对象，决定课程体验与职业出口</a:t>
            </a:r>
            <a:endParaRPr sz="2775" b="1">
              <a:solidFill>
                <a:srgbClr val="BD5F19"/>
              </a:solidFill>
              <a:latin typeface="Source Han Serif SC"/>
              <a:ea typeface="Source Han Serif SC"/>
              <a:cs typeface="Source Han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WPS 演示</Application>
  <PresentationFormat>Converted Presentation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Source Han Serif SC</vt:lpstr>
      <vt:lpstr>Source Han Serif SC Heavy</vt:lpstr>
      <vt:lpstr>Noto Sans CJK SC</vt:lpstr>
      <vt:lpstr>Noto Serif SC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29</cp:revision>
  <dcterms:created xsi:type="dcterms:W3CDTF">2026-08-05T13:03:00Z</dcterms:created>
  <dcterms:modified xsi:type="dcterms:W3CDTF">2026-08-09T12:12:01Z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1CC454ED494E43189ACE5A82EF595F8B_13</vt:lpwstr>
  </property>
</Properties>
</file>