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rcRect t="933" b="933"/>
          <a:stretch>
            <a:fillRect/>
          </a:stretch>
        </p:blipFill>
        <p:spPr>
          <a:xfrm>
            <a:off x="142875" y="3352800"/>
            <a:ext cx="2571750" cy="182880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2"/>
          <a:srcRect l="276" r="276"/>
          <a:stretch>
            <a:fillRect/>
          </a:stretch>
        </p:blipFill>
        <p:spPr>
          <a:xfrm>
            <a:off x="2867025" y="3429000"/>
            <a:ext cx="1714500" cy="172402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rcRect t="328" b="328"/>
          <a:stretch>
            <a:fillRect/>
          </a:stretch>
        </p:blipFill>
        <p:spPr>
          <a:xfrm>
            <a:off x="4524375" y="3571875"/>
            <a:ext cx="1914525" cy="9144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4"/>
          <a:srcRect t="34" b="34"/>
          <a:stretch>
            <a:fillRect/>
          </a:stretch>
        </p:blipFill>
        <p:spPr>
          <a:xfrm>
            <a:off x="6667500" y="3219450"/>
            <a:ext cx="1504950" cy="172402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5"/>
          <a:srcRect t="141" b="141"/>
          <a:stretch>
            <a:fillRect/>
          </a:stretch>
        </p:blipFill>
        <p:spPr>
          <a:xfrm>
            <a:off x="8248650" y="3371850"/>
            <a:ext cx="1495425" cy="1571625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6"/>
          <a:srcRect t="97" b="97"/>
          <a:stretch>
            <a:fillRect/>
          </a:stretch>
        </p:blipFill>
        <p:spPr>
          <a:xfrm>
            <a:off x="10010775" y="3141345"/>
            <a:ext cx="1297305" cy="2052955"/>
          </a:xfrm>
          <a:prstGeom prst="rect">
            <a:avLst/>
          </a:prstGeom>
        </p:spPr>
      </p:pic>
      <p:sp>
        <p:nvSpPr>
          <p:cNvPr id="7" name="page03-title-bar"/>
          <p:cNvSpPr>
            <a:spLocks noGrp="1"/>
          </p:cNvSpPr>
          <p:nvPr/>
        </p:nvSpPr>
        <p:spPr>
          <a:xfrm>
            <a:off x="695325" y="685800"/>
            <a:ext cx="38100" cy="1362075"/>
          </a:xfrm>
          <a:prstGeom prst="rect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8" name="page03-title-editable"/>
          <p:cNvSpPr>
            <a:spLocks noGrp="1"/>
          </p:cNvSpPr>
          <p:nvPr/>
        </p:nvSpPr>
        <p:spPr>
          <a:xfrm>
            <a:off x="1066800" y="619125"/>
            <a:ext cx="76200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442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442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电子信息的核心，</a:t>
            </a:r>
            <a:endParaRPr sz="442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  <a:p>
            <a:pPr>
              <a:buNone/>
              <a:defRPr sz="442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442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是让信息被感知、传输和处理</a:t>
            </a:r>
            <a:endParaRPr sz="442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9" name="page03-title-rule"/>
          <p:cNvSpPr>
            <a:spLocks noGrp="1"/>
          </p:cNvSpPr>
          <p:nvPr/>
        </p:nvSpPr>
        <p:spPr>
          <a:xfrm>
            <a:off x="695325" y="2286000"/>
            <a:ext cx="10839450" cy="9525"/>
          </a:xfrm>
          <a:prstGeom prst="rect">
            <a:avLst/>
          </a:prstGeom>
          <a:solidFill>
            <a:srgbClr val="A8A9A4"/>
          </a:solidFill>
          <a:ln w="0">
            <a:solidFill>
              <a:srgbClr val="A8A9A4"/>
            </a:solidFill>
            <a:prstDash val="solid"/>
          </a:ln>
        </p:spPr>
      </p:sp>
      <p:sp>
        <p:nvSpPr>
          <p:cNvPr id="10" name="page03-title-rule-accent"/>
          <p:cNvSpPr>
            <a:spLocks noGrp="1"/>
          </p:cNvSpPr>
          <p:nvPr/>
        </p:nvSpPr>
        <p:spPr>
          <a:xfrm>
            <a:off x="695325" y="2276475"/>
            <a:ext cx="476250" cy="47625"/>
          </a:xfrm>
          <a:prstGeom prst="rect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11" name="page03-source-editable"/>
          <p:cNvSpPr>
            <a:spLocks noGrp="1"/>
          </p:cNvSpPr>
          <p:nvPr/>
        </p:nvSpPr>
        <p:spPr>
          <a:xfrm>
            <a:off x="800100" y="2781300"/>
            <a:ext cx="1866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10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10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现实世界的信息</a:t>
            </a:r>
            <a:endParaRPr sz="2100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2" name="page03-sense-editable"/>
          <p:cNvSpPr>
            <a:spLocks noGrp="1"/>
          </p:cNvSpPr>
          <p:nvPr/>
        </p:nvSpPr>
        <p:spPr>
          <a:xfrm>
            <a:off x="3333750" y="2781300"/>
            <a:ext cx="904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10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10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感知</a:t>
            </a:r>
            <a:endParaRPr sz="2100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3" name="page03-encode-editable"/>
          <p:cNvSpPr>
            <a:spLocks noGrp="1"/>
          </p:cNvSpPr>
          <p:nvPr/>
        </p:nvSpPr>
        <p:spPr>
          <a:xfrm>
            <a:off x="5276850" y="2781300"/>
            <a:ext cx="904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10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10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编码</a:t>
            </a:r>
            <a:endParaRPr sz="2100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4" name="page03-transmit-editable"/>
          <p:cNvSpPr>
            <a:spLocks noGrp="1"/>
          </p:cNvSpPr>
          <p:nvPr/>
        </p:nvSpPr>
        <p:spPr>
          <a:xfrm>
            <a:off x="7077075" y="2781300"/>
            <a:ext cx="904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10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10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传输</a:t>
            </a:r>
            <a:endParaRPr sz="2100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5" name="page03-process-editable"/>
          <p:cNvSpPr>
            <a:spLocks noGrp="1"/>
          </p:cNvSpPr>
          <p:nvPr/>
        </p:nvSpPr>
        <p:spPr>
          <a:xfrm>
            <a:off x="8724900" y="2781300"/>
            <a:ext cx="904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10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10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处理</a:t>
            </a:r>
            <a:endParaRPr sz="2100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6" name="page03-restore-editable"/>
          <p:cNvSpPr>
            <a:spLocks noGrp="1"/>
          </p:cNvSpPr>
          <p:nvPr/>
        </p:nvSpPr>
        <p:spPr>
          <a:xfrm>
            <a:off x="10372725" y="2708910"/>
            <a:ext cx="904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10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10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还原</a:t>
            </a:r>
            <a:endParaRPr sz="2100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21" name="page03-flow-02-dot-1"/>
          <p:cNvSpPr>
            <a:spLocks noGrp="1"/>
          </p:cNvSpPr>
          <p:nvPr/>
        </p:nvSpPr>
        <p:spPr>
          <a:xfrm>
            <a:off x="4457700" y="4095750"/>
            <a:ext cx="28575" cy="285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22" name="page03-flow-02-dot-2"/>
          <p:cNvSpPr>
            <a:spLocks noGrp="1"/>
          </p:cNvSpPr>
          <p:nvPr/>
        </p:nvSpPr>
        <p:spPr>
          <a:xfrm>
            <a:off x="4581525" y="4095750"/>
            <a:ext cx="28575" cy="285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23" name="page03-flow-02-dot-3"/>
          <p:cNvSpPr>
            <a:spLocks noGrp="1"/>
          </p:cNvSpPr>
          <p:nvPr/>
        </p:nvSpPr>
        <p:spPr>
          <a:xfrm>
            <a:off x="4705350" y="4095750"/>
            <a:ext cx="28575" cy="285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24" name="page03-flow-02-arrow-tail"/>
          <p:cNvSpPr>
            <a:spLocks noGrp="1"/>
          </p:cNvSpPr>
          <p:nvPr/>
        </p:nvSpPr>
        <p:spPr>
          <a:xfrm>
            <a:off x="4638675" y="4076700"/>
            <a:ext cx="76200" cy="66675"/>
          </a:xfrm>
          <a:prstGeom prst="rect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25" name="page03-flow-03-dot-1"/>
          <p:cNvSpPr>
            <a:spLocks noGrp="1"/>
          </p:cNvSpPr>
          <p:nvPr/>
        </p:nvSpPr>
        <p:spPr>
          <a:xfrm>
            <a:off x="6457950" y="4095750"/>
            <a:ext cx="28575" cy="285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26" name="page03-flow-03-dot-2"/>
          <p:cNvSpPr>
            <a:spLocks noGrp="1"/>
          </p:cNvSpPr>
          <p:nvPr/>
        </p:nvSpPr>
        <p:spPr>
          <a:xfrm>
            <a:off x="6581775" y="4095750"/>
            <a:ext cx="28575" cy="285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27" name="page03-flow-03-dot-3"/>
          <p:cNvSpPr>
            <a:spLocks noGrp="1"/>
          </p:cNvSpPr>
          <p:nvPr/>
        </p:nvSpPr>
        <p:spPr>
          <a:xfrm>
            <a:off x="6705600" y="4095750"/>
            <a:ext cx="28575" cy="285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29" name="page03-flow-04-dot-1"/>
          <p:cNvSpPr>
            <a:spLocks noGrp="1"/>
          </p:cNvSpPr>
          <p:nvPr/>
        </p:nvSpPr>
        <p:spPr>
          <a:xfrm>
            <a:off x="8181975" y="4095750"/>
            <a:ext cx="28575" cy="285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30" name="page03-flow-04-dot-2"/>
          <p:cNvSpPr>
            <a:spLocks noGrp="1"/>
          </p:cNvSpPr>
          <p:nvPr/>
        </p:nvSpPr>
        <p:spPr>
          <a:xfrm>
            <a:off x="8305800" y="4095750"/>
            <a:ext cx="28575" cy="285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31" name="page03-flow-04-dot-3"/>
          <p:cNvSpPr>
            <a:spLocks noGrp="1"/>
          </p:cNvSpPr>
          <p:nvPr/>
        </p:nvSpPr>
        <p:spPr>
          <a:xfrm>
            <a:off x="8429625" y="4095750"/>
            <a:ext cx="28575" cy="285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33" name="page03-flow-05-dot-1"/>
          <p:cNvSpPr>
            <a:spLocks noGrp="1"/>
          </p:cNvSpPr>
          <p:nvPr/>
        </p:nvSpPr>
        <p:spPr>
          <a:xfrm>
            <a:off x="9763125" y="4095750"/>
            <a:ext cx="28575" cy="285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34" name="page03-flow-05-dot-2"/>
          <p:cNvSpPr>
            <a:spLocks noGrp="1"/>
          </p:cNvSpPr>
          <p:nvPr/>
        </p:nvSpPr>
        <p:spPr>
          <a:xfrm>
            <a:off x="9886950" y="4095750"/>
            <a:ext cx="28575" cy="285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35" name="page03-flow-05-dot-3"/>
          <p:cNvSpPr>
            <a:spLocks noGrp="1"/>
          </p:cNvSpPr>
          <p:nvPr/>
        </p:nvSpPr>
        <p:spPr>
          <a:xfrm>
            <a:off x="10010775" y="4095750"/>
            <a:ext cx="28575" cy="285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37" name="page03-footer-bar"/>
          <p:cNvSpPr>
            <a:spLocks noGrp="1"/>
          </p:cNvSpPr>
          <p:nvPr/>
        </p:nvSpPr>
        <p:spPr>
          <a:xfrm>
            <a:off x="695325" y="5762625"/>
            <a:ext cx="38100" cy="409575"/>
          </a:xfrm>
          <a:prstGeom prst="rect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38" name="page03-footer-editable"/>
          <p:cNvSpPr>
            <a:spLocks noGrp="1"/>
          </p:cNvSpPr>
          <p:nvPr/>
        </p:nvSpPr>
        <p:spPr>
          <a:xfrm>
            <a:off x="1019175" y="5657850"/>
            <a:ext cx="9048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25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250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把声音、图像与环境变化，转化为可计算、可传递、可再现的信号。</a:t>
            </a:r>
            <a:endParaRPr sz="2250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39" name="page03-footer-rule"/>
          <p:cNvSpPr>
            <a:spLocks noGrp="1"/>
          </p:cNvSpPr>
          <p:nvPr/>
        </p:nvSpPr>
        <p:spPr>
          <a:xfrm>
            <a:off x="695325" y="6229350"/>
            <a:ext cx="10839450" cy="9525"/>
          </a:xfrm>
          <a:prstGeom prst="rect">
            <a:avLst/>
          </a:prstGeom>
          <a:solidFill>
            <a:srgbClr val="A8A9A4"/>
          </a:solidFill>
          <a:ln w="0">
            <a:solidFill>
              <a:srgbClr val="A8A9A4"/>
            </a:solidFill>
            <a:prstDash val="solid"/>
          </a:ln>
        </p:spPr>
      </p:sp>
      <p:sp>
        <p:nvSpPr>
          <p:cNvPr id="40" name="page03-footer-rule-accent"/>
          <p:cNvSpPr>
            <a:spLocks noGrp="1"/>
          </p:cNvSpPr>
          <p:nvPr/>
        </p:nvSpPr>
        <p:spPr>
          <a:xfrm>
            <a:off x="695325" y="6219825"/>
            <a:ext cx="476250" cy="47625"/>
          </a:xfrm>
          <a:prstGeom prst="rect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WPS 演示</Application>
  <PresentationFormat>Converted Presentation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Source Han Serif SC</vt:lpstr>
      <vt:lpstr>Source Han Serif SC Heavy</vt:lpstr>
      <vt:lpstr>Noto Sans CJK SC</vt:lpstr>
      <vt:lpstr>Noto Serif SC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29</cp:revision>
  <dcterms:created xsi:type="dcterms:W3CDTF">2026-08-05T13:03:00Z</dcterms:created>
  <dcterms:modified xsi:type="dcterms:W3CDTF">2026-08-09T12:12:00Z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1CC454ED494E43189ACE5A82EF595F8B_13</vt:lpwstr>
  </property>
</Properties>
</file>