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Reference image: E:\志愿填报视频资料\03.PPT图片格式\机械类\ChatGPT Image 2026年7月28日 23_56_45 (4).png</a:t>
            </a:r>
          </a:p>
          <a:p>
            <a:r>
              <a:t>Complex visual asset layer: derived from the supplied image with title and row text regions masked. Page title, row numbers, row titles, keywords, and orange separators are rebuilt as editable PowerPoint text/shapes. Keyword areas include editable dark masks to remove source-text ghosting.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-orange-title-marker"/>
          <p:cNvSpPr>
            <a:spLocks noGrp="1"/>
          </p:cNvSpPr>
          <p:nvPr/>
        </p:nvSpPr>
        <p:spPr>
          <a:xfrm>
            <a:off x="933450" y="400050"/>
            <a:ext cx="38100" cy="40957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3" name="editable-main-title"/>
          <p:cNvSpPr>
            <a:spLocks noGrp="1"/>
          </p:cNvSpPr>
          <p:nvPr/>
        </p:nvSpPr>
        <p:spPr>
          <a:xfrm>
            <a:off x="1143000" y="309245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32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2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大学学什么</a:t>
            </a:r>
            <a:endParaRPr sz="3225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editable-row-01-number"/>
          <p:cNvSpPr>
            <a:spLocks noGrp="1"/>
          </p:cNvSpPr>
          <p:nvPr/>
        </p:nvSpPr>
        <p:spPr>
          <a:xfrm>
            <a:off x="1371600" y="121920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01</a:t>
            </a:r>
            <a:endParaRPr sz="2850" b="1">
              <a:solidFill>
                <a:srgbClr val="2FA8FF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5" name="editable-row-01-title"/>
          <p:cNvSpPr>
            <a:spLocks noGrp="1"/>
          </p:cNvSpPr>
          <p:nvPr/>
        </p:nvSpPr>
        <p:spPr>
          <a:xfrm>
            <a:off x="2419350" y="12382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制图表达</a:t>
            </a:r>
            <a:endParaRPr sz="28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editable-row-01-orange-separator"/>
          <p:cNvSpPr>
            <a:spLocks noGrp="1"/>
          </p:cNvSpPr>
          <p:nvPr/>
        </p:nvSpPr>
        <p:spPr>
          <a:xfrm>
            <a:off x="4419600" y="1466850"/>
            <a:ext cx="28575" cy="26670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7" name="editable-row-01-keyword-mask"/>
          <p:cNvSpPr>
            <a:spLocks noGrp="1"/>
          </p:cNvSpPr>
          <p:nvPr/>
        </p:nvSpPr>
        <p:spPr>
          <a:xfrm>
            <a:off x="4591050" y="1371600"/>
            <a:ext cx="2628900" cy="342900"/>
          </a:xfrm>
          <a:prstGeom prst="rect">
            <a:avLst/>
          </a:prstGeom>
          <a:solidFill>
            <a:srgbClr val="051B2D"/>
          </a:solidFill>
          <a:ln w="0">
            <a:noFill/>
            <a:prstDash val="solid"/>
          </a:ln>
        </p:spPr>
      </p:sp>
      <p:sp>
        <p:nvSpPr>
          <p:cNvPr id="8" name="editable-row-01-keyword-a"/>
          <p:cNvSpPr>
            <a:spLocks noGrp="1"/>
          </p:cNvSpPr>
          <p:nvPr/>
        </p:nvSpPr>
        <p:spPr>
          <a:xfrm>
            <a:off x="4724400" y="14097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工程制图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editable-row-01-keyword-b"/>
          <p:cNvSpPr>
            <a:spLocks noGrp="1"/>
          </p:cNvSpPr>
          <p:nvPr/>
        </p:nvSpPr>
        <p:spPr>
          <a:xfrm>
            <a:off x="5695950" y="14097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CAD与三维建模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editable-row-01-keyword-divider"/>
          <p:cNvSpPr>
            <a:spLocks noGrp="1"/>
          </p:cNvSpPr>
          <p:nvPr/>
        </p:nvSpPr>
        <p:spPr>
          <a:xfrm>
            <a:off x="5553075" y="1400175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|</a:t>
            </a:r>
            <a:endParaRPr sz="1425" b="0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editable-row-02-number"/>
          <p:cNvSpPr>
            <a:spLocks noGrp="1"/>
          </p:cNvSpPr>
          <p:nvPr/>
        </p:nvSpPr>
        <p:spPr>
          <a:xfrm>
            <a:off x="1371600" y="216217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02</a:t>
            </a:r>
            <a:endParaRPr sz="2850" b="1">
              <a:solidFill>
                <a:srgbClr val="2FA8FF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" name="editable-row-02-title"/>
          <p:cNvSpPr>
            <a:spLocks noGrp="1"/>
          </p:cNvSpPr>
          <p:nvPr/>
        </p:nvSpPr>
        <p:spPr>
          <a:xfrm>
            <a:off x="2419350" y="218122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力学分析</a:t>
            </a:r>
            <a:endParaRPr sz="28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editable-row-02-orange-separator"/>
          <p:cNvSpPr>
            <a:spLocks noGrp="1"/>
          </p:cNvSpPr>
          <p:nvPr/>
        </p:nvSpPr>
        <p:spPr>
          <a:xfrm>
            <a:off x="4419600" y="2409825"/>
            <a:ext cx="28575" cy="26670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4" name="editable-row-02-keyword-mask"/>
          <p:cNvSpPr>
            <a:spLocks noGrp="1"/>
          </p:cNvSpPr>
          <p:nvPr/>
        </p:nvSpPr>
        <p:spPr>
          <a:xfrm>
            <a:off x="4591050" y="2314575"/>
            <a:ext cx="2628900" cy="342900"/>
          </a:xfrm>
          <a:prstGeom prst="rect">
            <a:avLst/>
          </a:prstGeom>
          <a:solidFill>
            <a:srgbClr val="051B2D"/>
          </a:solidFill>
          <a:ln w="0">
            <a:noFill/>
            <a:prstDash val="solid"/>
          </a:ln>
        </p:spPr>
      </p:sp>
      <p:sp>
        <p:nvSpPr>
          <p:cNvPr id="15" name="editable-row-02-keyword-a"/>
          <p:cNvSpPr>
            <a:spLocks noGrp="1"/>
          </p:cNvSpPr>
          <p:nvPr/>
        </p:nvSpPr>
        <p:spPr>
          <a:xfrm>
            <a:off x="4724400" y="2352675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理论力学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editable-row-02-keyword-b"/>
          <p:cNvSpPr>
            <a:spLocks noGrp="1"/>
          </p:cNvSpPr>
          <p:nvPr/>
        </p:nvSpPr>
        <p:spPr>
          <a:xfrm>
            <a:off x="5695950" y="235267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材料力学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editable-row-02-keyword-divider"/>
          <p:cNvSpPr>
            <a:spLocks noGrp="1"/>
          </p:cNvSpPr>
          <p:nvPr/>
        </p:nvSpPr>
        <p:spPr>
          <a:xfrm>
            <a:off x="5553075" y="234315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|</a:t>
            </a:r>
            <a:endParaRPr sz="1425" b="0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editable-row-03-number"/>
          <p:cNvSpPr>
            <a:spLocks noGrp="1"/>
          </p:cNvSpPr>
          <p:nvPr/>
        </p:nvSpPr>
        <p:spPr>
          <a:xfrm>
            <a:off x="1371600" y="31051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03</a:t>
            </a:r>
            <a:endParaRPr sz="2850" b="1">
              <a:solidFill>
                <a:srgbClr val="2FA8FF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9" name="editable-row-03-title"/>
          <p:cNvSpPr>
            <a:spLocks noGrp="1"/>
          </p:cNvSpPr>
          <p:nvPr/>
        </p:nvSpPr>
        <p:spPr>
          <a:xfrm>
            <a:off x="2419350" y="31242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结构设计</a:t>
            </a:r>
            <a:endParaRPr sz="28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editable-row-03-orange-separator"/>
          <p:cNvSpPr>
            <a:spLocks noGrp="1"/>
          </p:cNvSpPr>
          <p:nvPr/>
        </p:nvSpPr>
        <p:spPr>
          <a:xfrm>
            <a:off x="4419600" y="3352800"/>
            <a:ext cx="28575" cy="26670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21" name="editable-row-03-keyword-mask"/>
          <p:cNvSpPr>
            <a:spLocks noGrp="1"/>
          </p:cNvSpPr>
          <p:nvPr/>
        </p:nvSpPr>
        <p:spPr>
          <a:xfrm>
            <a:off x="4591050" y="3257550"/>
            <a:ext cx="2628900" cy="342900"/>
          </a:xfrm>
          <a:prstGeom prst="rect">
            <a:avLst/>
          </a:prstGeom>
          <a:solidFill>
            <a:srgbClr val="051B2D"/>
          </a:solidFill>
          <a:ln w="0">
            <a:noFill/>
            <a:prstDash val="solid"/>
          </a:ln>
        </p:spPr>
      </p:sp>
      <p:sp>
        <p:nvSpPr>
          <p:cNvPr id="22" name="editable-row-03-keyword-a"/>
          <p:cNvSpPr>
            <a:spLocks noGrp="1"/>
          </p:cNvSpPr>
          <p:nvPr/>
        </p:nvSpPr>
        <p:spPr>
          <a:xfrm>
            <a:off x="4724400" y="32956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机械原理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editable-row-03-keyword-b"/>
          <p:cNvSpPr>
            <a:spLocks noGrp="1"/>
          </p:cNvSpPr>
          <p:nvPr/>
        </p:nvSpPr>
        <p:spPr>
          <a:xfrm>
            <a:off x="5695950" y="32956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机械设计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editable-row-03-keyword-divider"/>
          <p:cNvSpPr>
            <a:spLocks noGrp="1"/>
          </p:cNvSpPr>
          <p:nvPr/>
        </p:nvSpPr>
        <p:spPr>
          <a:xfrm>
            <a:off x="5553075" y="3286125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|</a:t>
            </a:r>
            <a:endParaRPr sz="1425" b="0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editable-row-04-number"/>
          <p:cNvSpPr>
            <a:spLocks noGrp="1"/>
          </p:cNvSpPr>
          <p:nvPr/>
        </p:nvSpPr>
        <p:spPr>
          <a:xfrm>
            <a:off x="1371600" y="404812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04</a:t>
            </a:r>
            <a:endParaRPr sz="2850" b="1">
              <a:solidFill>
                <a:srgbClr val="2FA8FF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26" name="editable-row-04-title"/>
          <p:cNvSpPr>
            <a:spLocks noGrp="1"/>
          </p:cNvSpPr>
          <p:nvPr/>
        </p:nvSpPr>
        <p:spPr>
          <a:xfrm>
            <a:off x="2419350" y="406717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加工制造</a:t>
            </a:r>
            <a:endParaRPr sz="28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editable-row-04-orange-separator"/>
          <p:cNvSpPr>
            <a:spLocks noGrp="1"/>
          </p:cNvSpPr>
          <p:nvPr/>
        </p:nvSpPr>
        <p:spPr>
          <a:xfrm>
            <a:off x="4419600" y="4295775"/>
            <a:ext cx="28575" cy="26670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28" name="editable-row-04-keyword-mask"/>
          <p:cNvSpPr>
            <a:spLocks noGrp="1"/>
          </p:cNvSpPr>
          <p:nvPr/>
        </p:nvSpPr>
        <p:spPr>
          <a:xfrm>
            <a:off x="4591050" y="4200525"/>
            <a:ext cx="2628900" cy="342900"/>
          </a:xfrm>
          <a:prstGeom prst="rect">
            <a:avLst/>
          </a:prstGeom>
          <a:solidFill>
            <a:srgbClr val="051B2D"/>
          </a:solidFill>
          <a:ln w="0">
            <a:noFill/>
            <a:prstDash val="solid"/>
          </a:ln>
        </p:spPr>
      </p:sp>
      <p:sp>
        <p:nvSpPr>
          <p:cNvPr id="29" name="editable-row-04-keyword-a"/>
          <p:cNvSpPr>
            <a:spLocks noGrp="1"/>
          </p:cNvSpPr>
          <p:nvPr/>
        </p:nvSpPr>
        <p:spPr>
          <a:xfrm>
            <a:off x="4724400" y="4238625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制造技术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editable-row-04-keyword-b"/>
          <p:cNvSpPr>
            <a:spLocks noGrp="1"/>
          </p:cNvSpPr>
          <p:nvPr/>
        </p:nvSpPr>
        <p:spPr>
          <a:xfrm>
            <a:off x="5695950" y="42386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数控编程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editable-row-04-keyword-divider"/>
          <p:cNvSpPr>
            <a:spLocks noGrp="1"/>
          </p:cNvSpPr>
          <p:nvPr/>
        </p:nvSpPr>
        <p:spPr>
          <a:xfrm>
            <a:off x="5553075" y="422910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|</a:t>
            </a:r>
            <a:endParaRPr sz="1425" b="0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editable-row-05-number"/>
          <p:cNvSpPr>
            <a:spLocks noGrp="1"/>
          </p:cNvSpPr>
          <p:nvPr/>
        </p:nvSpPr>
        <p:spPr>
          <a:xfrm>
            <a:off x="1371600" y="50101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05</a:t>
            </a:r>
            <a:endParaRPr sz="2850" b="1">
              <a:solidFill>
                <a:srgbClr val="2FA8FF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33" name="editable-row-05-title"/>
          <p:cNvSpPr>
            <a:spLocks noGrp="1"/>
          </p:cNvSpPr>
          <p:nvPr/>
        </p:nvSpPr>
        <p:spPr>
          <a:xfrm>
            <a:off x="2419350" y="50292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电气控制</a:t>
            </a:r>
            <a:endParaRPr sz="28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editable-row-05-orange-separator"/>
          <p:cNvSpPr>
            <a:spLocks noGrp="1"/>
          </p:cNvSpPr>
          <p:nvPr/>
        </p:nvSpPr>
        <p:spPr>
          <a:xfrm>
            <a:off x="4419600" y="5257800"/>
            <a:ext cx="28575" cy="26670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35" name="editable-row-05-keyword-mask"/>
          <p:cNvSpPr>
            <a:spLocks noGrp="1"/>
          </p:cNvSpPr>
          <p:nvPr/>
        </p:nvSpPr>
        <p:spPr>
          <a:xfrm>
            <a:off x="4591050" y="5162550"/>
            <a:ext cx="2628900" cy="342900"/>
          </a:xfrm>
          <a:prstGeom prst="rect">
            <a:avLst/>
          </a:prstGeom>
          <a:solidFill>
            <a:srgbClr val="051B2D"/>
          </a:solidFill>
          <a:ln w="0">
            <a:noFill/>
            <a:prstDash val="solid"/>
          </a:ln>
        </p:spPr>
      </p:sp>
      <p:sp>
        <p:nvSpPr>
          <p:cNvPr id="36" name="editable-row-05-keyword-a"/>
          <p:cNvSpPr>
            <a:spLocks noGrp="1"/>
          </p:cNvSpPr>
          <p:nvPr/>
        </p:nvSpPr>
        <p:spPr>
          <a:xfrm>
            <a:off x="4724400" y="52006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电路原理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editable-row-05-keyword-b"/>
          <p:cNvSpPr>
            <a:spLocks noGrp="1"/>
          </p:cNvSpPr>
          <p:nvPr/>
        </p:nvSpPr>
        <p:spPr>
          <a:xfrm>
            <a:off x="5695950" y="52006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PLC与机电传动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editable-row-05-keyword-divider"/>
          <p:cNvSpPr>
            <a:spLocks noGrp="1"/>
          </p:cNvSpPr>
          <p:nvPr/>
        </p:nvSpPr>
        <p:spPr>
          <a:xfrm>
            <a:off x="5553075" y="5191125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|</a:t>
            </a:r>
            <a:endParaRPr sz="1425" b="0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editable-row-06-number"/>
          <p:cNvSpPr>
            <a:spLocks noGrp="1"/>
          </p:cNvSpPr>
          <p:nvPr/>
        </p:nvSpPr>
        <p:spPr>
          <a:xfrm>
            <a:off x="1371600" y="595312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2850" b="1">
                <a:solidFill>
                  <a:srgbClr val="2FA8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06</a:t>
            </a:r>
            <a:endParaRPr sz="2850" b="1">
              <a:solidFill>
                <a:srgbClr val="2FA8FF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40" name="editable-row-06-title"/>
          <p:cNvSpPr>
            <a:spLocks noGrp="1"/>
          </p:cNvSpPr>
          <p:nvPr/>
        </p:nvSpPr>
        <p:spPr>
          <a:xfrm>
            <a:off x="2419350" y="5972175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计算机仿真</a:t>
            </a:r>
            <a:endParaRPr sz="28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editable-row-06-orange-separator"/>
          <p:cNvSpPr>
            <a:spLocks noGrp="1"/>
          </p:cNvSpPr>
          <p:nvPr/>
        </p:nvSpPr>
        <p:spPr>
          <a:xfrm>
            <a:off x="4419600" y="6200775"/>
            <a:ext cx="28575" cy="26670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42" name="editable-row-06-keyword-mask"/>
          <p:cNvSpPr>
            <a:spLocks noGrp="1"/>
          </p:cNvSpPr>
          <p:nvPr/>
        </p:nvSpPr>
        <p:spPr>
          <a:xfrm>
            <a:off x="4591050" y="6105525"/>
            <a:ext cx="2628900" cy="342900"/>
          </a:xfrm>
          <a:prstGeom prst="rect">
            <a:avLst/>
          </a:prstGeom>
          <a:solidFill>
            <a:srgbClr val="051B2D"/>
          </a:solidFill>
          <a:ln w="0">
            <a:noFill/>
            <a:prstDash val="solid"/>
          </a:ln>
        </p:spPr>
      </p:sp>
      <p:sp>
        <p:nvSpPr>
          <p:cNvPr id="43" name="editable-row-06-keyword-a"/>
          <p:cNvSpPr>
            <a:spLocks noGrp="1"/>
          </p:cNvSpPr>
          <p:nvPr/>
        </p:nvSpPr>
        <p:spPr>
          <a:xfrm>
            <a:off x="4724400" y="6143625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CAE分析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editable-row-06-keyword-b"/>
          <p:cNvSpPr>
            <a:spLocks noGrp="1"/>
          </p:cNvSpPr>
          <p:nvPr/>
        </p:nvSpPr>
        <p:spPr>
          <a:xfrm>
            <a:off x="5695950" y="61436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数字化验证</a:t>
            </a:r>
            <a:endParaRPr sz="1350" b="1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editable-row-06-keyword-divider"/>
          <p:cNvSpPr>
            <a:spLocks noGrp="1"/>
          </p:cNvSpPr>
          <p:nvPr/>
        </p:nvSpPr>
        <p:spPr>
          <a:xfrm>
            <a:off x="5553075" y="613410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DDE3E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|</a:t>
            </a:r>
            <a:endParaRPr sz="1425" b="0">
              <a:solidFill>
                <a:srgbClr val="DDE3E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WPS 演示</Application>
  <PresentationFormat>Converted Presentation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Microsoft YaHei UI</vt:lpstr>
      <vt:lpstr>Arial Narrow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3</cp:revision>
  <dcterms:created xsi:type="dcterms:W3CDTF">2026-07-29T15:34:00Z</dcterms:created>
  <dcterms:modified xsi:type="dcterms:W3CDTF">2026-08-09T12:13:04Z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FE51A126070246DA8B856B42D54D8A9F_13</vt:lpwstr>
  </property>
  <property fmtid="{D5CDD505-2E9C-101B-9397-08002B2CF9AE}" pid="3" name="KSOProductBuildVer">
    <vt:lpwstr>2052-12.1.0.28022</vt:lpwstr>
  </property>
</Properties>
</file>